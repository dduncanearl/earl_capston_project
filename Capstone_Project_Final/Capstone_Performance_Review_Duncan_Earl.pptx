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71" r:id="rId5"/>
    <p:sldId id="259" r:id="rId6"/>
    <p:sldId id="260" r:id="rId7"/>
    <p:sldId id="262" r:id="rId8"/>
    <p:sldId id="263" r:id="rId9"/>
    <p:sldId id="265" r:id="rId10"/>
    <p:sldId id="266" r:id="rId11"/>
    <p:sldId id="264" r:id="rId12"/>
    <p:sldId id="269" r:id="rId13"/>
    <p:sldId id="272" r:id="rId14"/>
  </p:sldIdLst>
  <p:sldSz cx="12192000" cy="6858000"/>
  <p:notesSz cx="6858000" cy="9144000"/>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Judged answer pass rate</c:v>
          </c:tx>
          <c:spPr>
            <a:solidFill>
              <a:srgbClr val="365C6B"/>
            </a:solidFill>
          </c:spPr>
          <c:invertIfNegative val="0"/>
          <c:dLbls>
            <c:numFmt formatCode="0%" sourceLinked="0"/>
            <c:spPr>
              <a:noFill/>
              <a:ln>
                <a:noFill/>
              </a:ln>
              <a:effectLst/>
            </c:spPr>
            <c:txPr>
              <a:bodyPr anchorCtr="1"/>
              <a:lstStyle/>
              <a:p>
                <a:pPr>
                  <a:defRPr sz="1950" b="1">
                    <a:solidFill>
                      <a:srgbClr val="292E31"/>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V1</c:v>
              </c:pt>
              <c:pt idx="1">
                <c:v>V2</c:v>
              </c:pt>
              <c:pt idx="2">
                <c:v>V3</c:v>
              </c:pt>
              <c:pt idx="3">
                <c:v>V4</c:v>
              </c:pt>
            </c:strLit>
          </c:cat>
          <c:val>
            <c:numLit>
              <c:formatCode>0%</c:formatCode>
              <c:ptCount val="4"/>
              <c:pt idx="0">
                <c:v>0.78</c:v>
              </c:pt>
              <c:pt idx="1">
                <c:v>0.86</c:v>
              </c:pt>
              <c:pt idx="2">
                <c:v>0.92</c:v>
              </c:pt>
              <c:pt idx="3">
                <c:v>0.94</c:v>
              </c:pt>
            </c:numLit>
          </c:val>
          <c:extLst>
            <c:ext xmlns:c16="http://schemas.microsoft.com/office/drawing/2014/chart" uri="{C3380CC4-5D6E-409C-BE32-E72D297353CC}">
              <c16:uniqueId val="{00000000-A6B4-45D6-9E6D-FD505EAC1DC2}"/>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E0E5E8"/>
            </a:solidFill>
            <a:prstDash val="solid"/>
          </a:ln>
        </c:spPr>
        <c:txPr>
          <a:bodyPr anchorCtr="1"/>
          <a:lstStyle/>
          <a:p>
            <a:pPr>
              <a:defRPr sz="1875">
                <a:solidFill>
                  <a:srgbClr val="292E31"/>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E0E5E8"/>
              </a:solidFill>
              <a:prstDash val="solid"/>
            </a:ln>
          </c:spPr>
        </c:majorGridlines>
        <c:title>
          <c:tx>
            <c:rich>
              <a:bodyPr/>
              <a:lstStyle/>
              <a:p>
                <a:r>
                  <a:rPr lang="en-US" sz="1725">
                    <a:latin typeface="Calibri"/>
                    <a:ea typeface="Calibri"/>
                    <a:cs typeface="Calibri"/>
                  </a:rPr>
                  <a:t>Pass rate</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75">
                <a:solidFill>
                  <a:srgbClr val="66717A"/>
                </a:solidFill>
                <a:latin typeface="Calibri"/>
                <a:ea typeface="Calibri"/>
                <a:cs typeface="Calibri"/>
              </a:defRPr>
            </a:pPr>
            <a:endParaRPr lang="en-US"/>
          </a:p>
        </c:txPr>
        <c:crossAx val="48650112"/>
        <c:crosses val="autoZero"/>
        <c:crossBetween val="between"/>
        <c:majorUnit val="0.2"/>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Mean cost (US cents per question)</c:v>
          </c:tx>
          <c:spPr>
            <a:solidFill>
              <a:srgbClr val="365C6B"/>
            </a:solidFill>
          </c:spPr>
          <c:invertIfNegative val="0"/>
          <c:dLbls>
            <c:numFmt formatCode="0.00" sourceLinked="0"/>
            <c:spPr>
              <a:noFill/>
              <a:ln>
                <a:noFill/>
              </a:ln>
              <a:effectLst/>
            </c:spPr>
            <c:txPr>
              <a:bodyPr anchorCtr="1"/>
              <a:lstStyle/>
              <a:p>
                <a:pPr>
                  <a:defRPr sz="1800" b="1">
                    <a:solidFill>
                      <a:srgbClr val="292E31"/>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V1</c:v>
              </c:pt>
              <c:pt idx="1">
                <c:v>V2</c:v>
              </c:pt>
              <c:pt idx="2">
                <c:v>V3</c:v>
              </c:pt>
              <c:pt idx="3">
                <c:v>V4</c:v>
              </c:pt>
            </c:strLit>
          </c:cat>
          <c:val>
            <c:numLit>
              <c:formatCode>0.00</c:formatCode>
              <c:ptCount val="4"/>
              <c:pt idx="0">
                <c:v>0.35185517999999999</c:v>
              </c:pt>
              <c:pt idx="1">
                <c:v>1.4564739199999999</c:v>
              </c:pt>
              <c:pt idx="2">
                <c:v>1.28585134</c:v>
              </c:pt>
              <c:pt idx="3">
                <c:v>1.2540799199999999</c:v>
              </c:pt>
            </c:numLit>
          </c:val>
          <c:extLst>
            <c:ext xmlns:c16="http://schemas.microsoft.com/office/drawing/2014/chart" uri="{C3380CC4-5D6E-409C-BE32-E72D297353CC}">
              <c16:uniqueId val="{00000000-9B0C-40D6-8471-8C9C81E60A10}"/>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E0E5E8"/>
            </a:solidFill>
            <a:prstDash val="solid"/>
          </a:ln>
        </c:spPr>
        <c:txPr>
          <a:bodyPr anchorCtr="1"/>
          <a:lstStyle/>
          <a:p>
            <a:pPr>
              <a:defRPr sz="1725">
                <a:solidFill>
                  <a:srgbClr val="292E31"/>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8"/>
          <c:min val="0"/>
        </c:scaling>
        <c:delete val="0"/>
        <c:axPos val="l"/>
        <c:majorGridlines>
          <c:spPr>
            <a:ln w="9525">
              <a:solidFill>
                <a:srgbClr val="E0E5E8"/>
              </a:solidFill>
              <a:prstDash val="solid"/>
            </a:ln>
          </c:spPr>
        </c:majorGridlines>
        <c:numFmt formatCode="0.00" sourceLinked="1"/>
        <c:majorTickMark val="none"/>
        <c:minorTickMark val="none"/>
        <c:tickLblPos val="nextTo"/>
        <c:spPr>
          <a:ln w="9525">
            <a:solidFill>
              <a:srgbClr val="D4D4D4"/>
            </a:solidFill>
            <a:prstDash val="solid"/>
          </a:ln>
        </c:spPr>
        <c:txPr>
          <a:bodyPr anchorCtr="1"/>
          <a:lstStyle/>
          <a:p>
            <a:pPr>
              <a:defRPr sz="1425">
                <a:solidFill>
                  <a:srgbClr val="66717A"/>
                </a:solidFill>
                <a:latin typeface="Calibri"/>
                <a:ea typeface="Calibri"/>
                <a:cs typeface="Calibri"/>
              </a:defRPr>
            </a:pPr>
            <a:endParaRPr lang="en-US"/>
          </a:p>
        </c:txPr>
        <c:crossAx val="48650112"/>
        <c:crosses val="autoZero"/>
        <c:crossBetween val="between"/>
        <c:majorUnit val="0.6"/>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Median answer latency (seconds)</c:v>
          </c:tx>
          <c:spPr>
            <a:solidFill>
              <a:srgbClr val="A91D36"/>
            </a:solidFill>
          </c:spPr>
          <c:invertIfNegative val="0"/>
          <c:dLbls>
            <c:numFmt formatCode="0.00" sourceLinked="0"/>
            <c:spPr>
              <a:noFill/>
              <a:ln>
                <a:noFill/>
              </a:ln>
              <a:effectLst/>
            </c:spPr>
            <c:txPr>
              <a:bodyPr anchorCtr="1"/>
              <a:lstStyle/>
              <a:p>
                <a:pPr>
                  <a:defRPr sz="1800" b="1">
                    <a:solidFill>
                      <a:srgbClr val="292E31"/>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V1</c:v>
              </c:pt>
              <c:pt idx="1">
                <c:v>V2</c:v>
              </c:pt>
              <c:pt idx="2">
                <c:v>V3</c:v>
              </c:pt>
              <c:pt idx="3">
                <c:v>V4</c:v>
              </c:pt>
            </c:strLit>
          </c:cat>
          <c:val>
            <c:numLit>
              <c:formatCode>0.00</c:formatCode>
              <c:ptCount val="4"/>
              <c:pt idx="0">
                <c:v>2.4660000000000002</c:v>
              </c:pt>
              <c:pt idx="1">
                <c:v>13.0785</c:v>
              </c:pt>
              <c:pt idx="2">
                <c:v>7.2705000000000002</c:v>
              </c:pt>
              <c:pt idx="3">
                <c:v>10.404499999999999</c:v>
              </c:pt>
            </c:numLit>
          </c:val>
          <c:extLst>
            <c:ext xmlns:c16="http://schemas.microsoft.com/office/drawing/2014/chart" uri="{C3380CC4-5D6E-409C-BE32-E72D297353CC}">
              <c16:uniqueId val="{00000000-0C4E-46B4-BBAA-D01E07A0595D}"/>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E0E5E8"/>
            </a:solidFill>
            <a:prstDash val="solid"/>
          </a:ln>
        </c:spPr>
        <c:txPr>
          <a:bodyPr anchorCtr="1"/>
          <a:lstStyle/>
          <a:p>
            <a:pPr>
              <a:defRPr sz="1725">
                <a:solidFill>
                  <a:srgbClr val="292E31"/>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6"/>
          <c:min val="0"/>
        </c:scaling>
        <c:delete val="0"/>
        <c:axPos val="l"/>
        <c:majorGridlines>
          <c:spPr>
            <a:ln w="9525">
              <a:solidFill>
                <a:srgbClr val="E0E5E8"/>
              </a:solidFill>
              <a:prstDash val="solid"/>
            </a:ln>
          </c:spPr>
        </c:majorGridlines>
        <c:numFmt formatCode="0.00" sourceLinked="1"/>
        <c:majorTickMark val="none"/>
        <c:minorTickMark val="none"/>
        <c:tickLblPos val="nextTo"/>
        <c:spPr>
          <a:ln w="9525">
            <a:solidFill>
              <a:srgbClr val="D4D4D4"/>
            </a:solidFill>
            <a:prstDash val="solid"/>
          </a:ln>
        </c:spPr>
        <c:txPr>
          <a:bodyPr anchorCtr="1"/>
          <a:lstStyle/>
          <a:p>
            <a:pPr>
              <a:defRPr sz="1425">
                <a:solidFill>
                  <a:srgbClr val="66717A"/>
                </a:solidFill>
                <a:latin typeface="Calibri"/>
                <a:ea typeface="Calibri"/>
                <a:cs typeface="Calibri"/>
              </a:defRPr>
            </a:pPr>
            <a:endParaRPr lang="en-US"/>
          </a:p>
        </c:txPr>
        <c:crossAx val="48650112"/>
        <c:crosses val="autoZero"/>
        <c:crossBetween val="between"/>
        <c:majorUnit val="4"/>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15 seconds | 0:00–0:15 of 7:00</a:t>
            </a:r>
          </a:p>
          <a:p>
            <a:endParaRPr/>
          </a:p>
          <a:p>
            <a:r>
              <a:t>SPEAKER SCRIPT</a:t>
            </a:r>
          </a:p>
          <a:p>
            <a:r>
              <a:t>My project is a conversational chatbot for a local collection of Wikipedia articles. I’ll explain the problem, how the system works, and how four versions improved performance. My main focus was accuracy, followed by cost and response time.</a:t>
            </a:r>
          </a:p>
          <a:p>
            <a:endParaRPr/>
          </a:p>
          <a:p>
            <a:r>
              <a:t>REFERENCE NOTES — NOT PART OF THE SPOKEN SCRIPT</a:t>
            </a:r>
          </a:p>
          <a:p>
            <a:r>
              <a:t>Sources: evaluation_results_v1.zip / v1_20261014_124445_598187/report.json; evaluation_results_v2.zip / v2_20261014_124852_253335/report.json; evaluation_results_v3.zip / v3_20261014_130348_329735/report.json; report(3).json for V4 (pricing timestamp 2026-10-14T18:58:36Z). All four runs use the same 50 test questions and corpus fingerprint. V1–V3 use the measured editions of the original programs; V4 uses Capstone_Project_Final_v4.py. Program hashes verified. This deck supersedes older V2/V3 results: current scores are 78%, 86%, 92%, 94%. No manual score overrides.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goal was to move toward a production-level chatbot that lets someone ask questions across approximately 2,400 articles. I ranked the priorities deliberately: accuracy first, cost second, and latency third. Once the answers became more reliable, I looked for ways to reduce the cost of producing them.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problem is the time required to find and connect information across a large collection. </a:t>
            </a:r>
            <a:r>
              <a:rPr lang="en-US" dirty="0"/>
              <a:t>For example, a simple question like </a:t>
            </a:r>
            <a:r>
              <a:rPr dirty="0"/>
              <a:t>who played Phoebe</a:t>
            </a:r>
            <a:r>
              <a:rPr lang="en-US" dirty="0"/>
              <a:t> in Friends could take a long time to answer if you have to read all 2400 pages</a:t>
            </a:r>
            <a:r>
              <a:rPr dirty="0"/>
              <a:t>.</a:t>
            </a:r>
            <a:r>
              <a:rPr lang="en-US" dirty="0"/>
              <a:t> The RAG AI solution basically condenses that down to a few seconds to improve productivity.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F21F0-52AE-9A3F-1E04-9C8B70CCC4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694DC-54FF-F24F-84D8-AA7A3A354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165AD-69C6-158A-B594-7DB39A44FC90}"/>
              </a:ext>
            </a:extLst>
          </p:cNvPr>
          <p:cNvSpPr>
            <a:spLocks noGrp="1"/>
          </p:cNvSpPr>
          <p:nvPr>
            <p:ph type="body" idx="1"/>
          </p:nvPr>
        </p:nvSpPr>
        <p:spPr/>
        <p:txBody>
          <a:bodyPr/>
          <a:lstStyle/>
          <a:p>
            <a:r>
              <a:rPr dirty="0"/>
              <a:t>Here is the workflow at a high level. The chatbot first interprets the question using conversation context. For a question with several parts, it breaks the question into separate facts t</a:t>
            </a:r>
            <a:r>
              <a:rPr lang="en-US" dirty="0"/>
              <a:t>hat need to be found</a:t>
            </a:r>
            <a:r>
              <a:rPr dirty="0"/>
              <a:t>, a step called decomposition. It then searches the articles using both </a:t>
            </a:r>
            <a:r>
              <a:rPr lang="en-US" dirty="0"/>
              <a:t>BM25 </a:t>
            </a:r>
            <a:r>
              <a:rPr dirty="0"/>
              <a:t>keywords and </a:t>
            </a:r>
            <a:r>
              <a:rPr lang="en-US" dirty="0"/>
              <a:t>semantic search</a:t>
            </a:r>
            <a:r>
              <a:rPr dirty="0"/>
              <a:t>. The model uses the selected passages to connect facts and draft an answer. The program checks the response and, when needed, uses another model call to verify its support. If something is missing, it can search again. Finally, it responds with citations or explains what it could not establish.</a:t>
            </a:r>
          </a:p>
        </p:txBody>
      </p:sp>
      <p:sp>
        <p:nvSpPr>
          <p:cNvPr id="4" name="Slide Number Placeholder 3">
            <a:extLst>
              <a:ext uri="{FF2B5EF4-FFF2-40B4-BE49-F238E27FC236}">
                <a16:creationId xmlns:a16="http://schemas.microsoft.com/office/drawing/2014/main" id="{BE8E48BA-FA9F-D56D-AB32-373579C2482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87363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 nutshell, the progression is basic answering, stronger checks, better planning, and better evidence selection.</a:t>
            </a:r>
          </a:p>
          <a:p>
            <a:endParaRPr lang="en-US" dirty="0"/>
          </a:p>
          <a:p>
            <a:r>
              <a:rPr lang="en-US" dirty="0"/>
              <a:t>That basic workflow was improved across </a:t>
            </a:r>
            <a:r>
              <a:rPr dirty="0"/>
              <a:t>four versions.</a:t>
            </a:r>
            <a:r>
              <a:rPr lang="en-US" dirty="0"/>
              <a:t> I started with version 1, which was just the final program after checkpoint 7.2 and then I started making improvements. </a:t>
            </a:r>
            <a:endParaRPr dirty="0"/>
          </a:p>
          <a:p>
            <a:endParaRPr dirty="0"/>
          </a:p>
          <a:p>
            <a:r>
              <a:rPr dirty="0"/>
              <a:t>Version one established the basic process: search the articles, generate an answer, and check its citations.</a:t>
            </a:r>
          </a:p>
          <a:p>
            <a:endParaRPr dirty="0"/>
          </a:p>
          <a:p>
            <a:r>
              <a:rPr dirty="0"/>
              <a:t>Version two </a:t>
            </a:r>
            <a:r>
              <a:rPr lang="en-US" dirty="0"/>
              <a:t>better identified the list of facts </a:t>
            </a:r>
            <a:r>
              <a:rPr dirty="0"/>
              <a:t>list of facts needed to answer </a:t>
            </a:r>
            <a:r>
              <a:rPr lang="en-US" dirty="0"/>
              <a:t>a</a:t>
            </a:r>
            <a:r>
              <a:rPr dirty="0"/>
              <a:t> question. It also added a separate check, when needed, of whether the</a:t>
            </a:r>
            <a:r>
              <a:rPr lang="en-US" dirty="0"/>
              <a:t> retrieved</a:t>
            </a:r>
            <a:r>
              <a:rPr dirty="0"/>
              <a:t> passages actually supported the answer.</a:t>
            </a:r>
          </a:p>
          <a:p>
            <a:endParaRPr dirty="0"/>
          </a:p>
          <a:p>
            <a:r>
              <a:rPr dirty="0"/>
              <a:t>Version three improved planning by </a:t>
            </a:r>
            <a:r>
              <a:rPr lang="en-US" dirty="0"/>
              <a:t>doing a better job of routing the questions to the simpler versus stronger</a:t>
            </a:r>
            <a:r>
              <a:rPr dirty="0"/>
              <a:t> model and keeping the plan focused on what the user actually asked. It connected each requested fact to an answer claim and could retain supported facts when a later step failed.</a:t>
            </a:r>
          </a:p>
          <a:p>
            <a:endParaRPr dirty="0"/>
          </a:p>
          <a:p>
            <a:r>
              <a:rPr dirty="0"/>
              <a:t>Version four </a:t>
            </a:r>
            <a:r>
              <a:rPr lang="en-US" dirty="0"/>
              <a:t>continued to improve on partial answers. It had added verification steps to ensure evidence for all parts were found before submitting a final answer</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said, here is a more detailed look at version 4 – the </a:t>
            </a:r>
            <a:r>
              <a:rPr dirty="0"/>
              <a:t>final version. </a:t>
            </a:r>
            <a:r>
              <a:rPr lang="en-US" dirty="0"/>
              <a:t>This is broken into three boxes. O</a:t>
            </a:r>
            <a:r>
              <a:rPr dirty="0"/>
              <a:t>n the left, the system checks the input</a:t>
            </a:r>
            <a:r>
              <a:rPr lang="en-US" dirty="0"/>
              <a:t> and strips out problematic text</a:t>
            </a:r>
            <a:r>
              <a:rPr dirty="0"/>
              <a:t>, </a:t>
            </a:r>
            <a:r>
              <a:rPr lang="en-US" dirty="0"/>
              <a:t>looks for cached answers, </a:t>
            </a:r>
            <a:r>
              <a:rPr dirty="0"/>
              <a:t>handles conversation context</a:t>
            </a:r>
            <a:r>
              <a:rPr lang="en-US" dirty="0"/>
              <a:t> and history, etc.</a:t>
            </a:r>
            <a:r>
              <a:rPr dirty="0"/>
              <a:t> In the middle, it retrieves passages and chooses an answering model. Simple questions can start with the smaller model, while more demanding cases use the stronger model. On the right, it validates the draft and can request another search. Limits on search rounds and model calls keep the process bounded.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 compared all four versions using the same 50 questions and the same corpus. Thirty-three questions used one article, sixteen required multiple articles, and one tested whether the system would acknowledge missing information. A separate language model judged answers against reference answers and retrieved evidence. Answer caching was disabled during evaluation so repeated answers could not bypass the work. This gives a consistent comparison, although a model judge is imperfect and the small test set limits what we can conclude.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Accuracy improved from 78 percent in version one to 94 percent</a:t>
            </a:r>
            <a:r>
              <a:rPr lang="en-US" dirty="0"/>
              <a:t> in version 4</a:t>
            </a:r>
            <a:r>
              <a:rPr dirty="0"/>
              <a:t>. </a:t>
            </a:r>
            <a:r>
              <a:rPr lang="en-US" dirty="0"/>
              <a:t>T</a:t>
            </a:r>
            <a:r>
              <a:rPr dirty="0"/>
              <a:t>he difference between versions three and four is just one additional passing question</a:t>
            </a:r>
            <a:r>
              <a:rPr lang="en-US" dirty="0"/>
              <a:t>, but version 4 was the most accurate given the test set</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cost and timing results show why the priority order matters. Version one was the cheapest and fastest, but it also had the lowest accuracy. Versions three and four then brought cost down. Compared with version three, version four cost about 2.5 percent less per question, while median response time increased from about 7.3 to 10.4 seconds. I preferred version four because accuracy came first and cost came second. This is an observed tradeoff. These runs do not prove that reducing cost caused the slower response.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detailed metrics help explain the overall pattern. From version two to version four, answering model calls fell from 188 to 151, and input tokens also declined. Processing errors dropped to zero in versions three and four. Both versions retrieved the expected articles in all scored cases. But finding the right article is only one step. The system still needs the relevant passage and must use it correctly to produce a complete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Breaking the results down shows that progress was uneven. Version three answered all sixteen multiple-article questions correctly. Version four answered fifteen, but improved the single-article result from 29 to 31. This is a reminder to look beyond the headline percentage and check for regressions. All versions passed the unanswerable question, but one example is far too little to establish reliable behavior whenever evidence is missing.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There are still clear gaps. Ninety-four percent leaves incorrect answers, and response times around ten seconds may be too slow for some users. The bigger limitation is the evaluation itself. I repeatedly developed against the same 50 questions, which creates a risk of teaching to the test. My next step would be a larger, independently written test set with human-reviewed answers, more conversation tests, and more unanswerable questions. Repeated runs would also help separate consistent improvements from normal model and provider variability.</a:t>
            </a:r>
          </a:p>
          <a:p>
            <a:endParaRPr dirty="0"/>
          </a:p>
          <a:p>
            <a:r>
              <a:rPr dirty="0"/>
              <a:t>REFERENCE NOTES — NOT PART OF THE SPOKEN SCRIPT</a:t>
            </a:r>
          </a:p>
          <a:p>
            <a:r>
              <a:rPr dirty="0"/>
              <a:t>Sources: evaluation_results_v1.zip / v1_20261014_124445_598187/</a:t>
            </a:r>
            <a:r>
              <a:rPr dirty="0" err="1"/>
              <a:t>report.json</a:t>
            </a:r>
            <a:r>
              <a:rPr dirty="0"/>
              <a:t>; evaluation_results_v2.zip / v2_20261014_124852_253335/</a:t>
            </a:r>
            <a:r>
              <a:rPr dirty="0" err="1"/>
              <a:t>report.json</a:t>
            </a:r>
            <a:r>
              <a:rPr dirty="0"/>
              <a:t>; evaluation_results_v3.zip / v3_20261014_130348_329735/</a:t>
            </a:r>
            <a:r>
              <a:rPr dirty="0" err="1"/>
              <a:t>report.json</a:t>
            </a:r>
            <a:r>
              <a:rPr dirty="0"/>
              <a:t>; report(3).</a:t>
            </a:r>
            <a:r>
              <a:rPr dirty="0" err="1"/>
              <a:t>json</a:t>
            </a:r>
            <a:r>
              <a:rPr dirty="0"/>
              <a:t> for V4 (pricing timestamp 2026-10-14T18:58:36Z). All four runs use the same 50 test questions and corpus fingerprint. V1–V3 use the measured editions of the original programs; V4 uses Capstone_Project_Final_v4.py. Program hashes verified. This deck supersedes older V2/V3 results: current scores are 78%, 86%, 92%, 94%. No manual score overrides.</a:t>
            </a:r>
          </a:p>
          <a:p>
            <a:r>
              <a:rPr dirty="0" err="1"/>
              <a:t>Qufu</a:t>
            </a:r>
            <a:r>
              <a:rPr dirty="0"/>
              <a:t> wiki_025 and Pittsburgh wiki_026 are </a:t>
            </a:r>
            <a:r>
              <a:rPr dirty="0" err="1"/>
              <a:t>nonpasses</a:t>
            </a:r>
            <a:r>
              <a:rPr dirty="0"/>
              <a:t> in all four versions. Current V4 other failure: wiki_054, an inadequately grounded presidency-time relation. V3 other failures: wiki_013 and wiki_039. A correct-article hit does not guarantee the answer-bearing passage. Uploaded human review files contain unfilled human verdict fields. Corpus freshness is </a:t>
            </a:r>
            <a:r>
              <a:rPr dirty="0" err="1"/>
              <a:t>legacy_unknown</a:t>
            </a:r>
            <a:r>
              <a:rPr dirty="0"/>
              <a:t> in V2–V4. Scores rely on a model judge and an iterated development set; unseen questions and repeated matched runs are needed to estimate generalization and stability.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10 seconds | 6:50–7:00 of 7:00</a:t>
            </a:r>
          </a:p>
          <a:p>
            <a:endParaRPr/>
          </a:p>
          <a:p>
            <a:r>
              <a:t>SPEAKER SCRIPT</a:t>
            </a:r>
          </a:p>
          <a:p>
            <a:r>
              <a:t>The main lesson is that better planning and evidence handling can improve a chatbot without changing model families. Thank you. I’m happy to take questions.</a:t>
            </a:r>
          </a:p>
          <a:p>
            <a:endParaRPr/>
          </a:p>
          <a:p>
            <a:r>
              <a:t>REFERENCE NOTES — NOT PART OF THE SPOKEN SCRIPT</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
        <p:cNvGrpSpPr/>
        <p:nvPr/>
      </p:nvGrpSpPr>
      <p:grpSpPr>
        <a:xfrm>
          <a:off x="0" y="0"/>
          <a:ext cx="0" cy="0"/>
          <a:chOff x="0" y="0"/>
          <a:chExt cx="0" cy="0"/>
        </a:xfrm>
      </p:grpSpPr>
      <p:pic>
        <p:nvPicPr>
          <p:cNvPr id="16" name="Google Shape;16;p5">
            <a:extLst>
              <a:ext uri="{FF2B5EF4-FFF2-40B4-BE49-F238E27FC236}">
                <a16:creationId xmlns:a16="http://schemas.microsoft.com/office/drawing/2014/main" id="{B1803469-394E-4F22-89B3-D4A3636B4A93}"/>
              </a:ext>
            </a:extLst>
          </p:cNvPr>
          <p:cNvPicPr>
            <a:picLocks noChangeAspect="1"/>
          </p:cNvPicPr>
          <p:nvPr/>
        </p:nvPicPr>
        <p:blipFill rotWithShape="1">
          <a:blip r:embed="rId2">
            <a:alphaModFix/>
          </a:blip>
          <a:srcRect/>
          <a:stretch/>
        </p:blipFill>
        <p:spPr>
          <a:xfrm>
            <a:off x="0" y="0"/>
            <a:ext cx="12192000" cy="6858000"/>
          </a:xfrm>
          <a:prstGeom prst="rect">
            <a:avLst/>
          </a:prstGeom>
          <a:ln>
            <a:noFill/>
          </a:ln>
        </p:spPr>
      </p:pic>
      <p:pic>
        <p:nvPicPr>
          <p:cNvPr id="17" name="Google Shape;17;p5">
            <a:extLst>
              <a:ext uri="{FF2B5EF4-FFF2-40B4-BE49-F238E27FC236}">
                <a16:creationId xmlns:a16="http://schemas.microsoft.com/office/drawing/2014/main" id="{AC1D6DCD-7301-4641-A4E8-2FE2C5691E7C}"/>
              </a:ext>
            </a:extLst>
          </p:cNvPr>
          <p:cNvPicPr>
            <a:picLocks noChangeAspect="1"/>
          </p:cNvPicPr>
          <p:nvPr/>
        </p:nvPicPr>
        <p:blipFill rotWithShape="1">
          <a:blip r:embed="rId3">
            <a:alphaModFix/>
          </a:blip>
          <a:srcRect/>
          <a:stretch/>
        </p:blipFill>
        <p:spPr>
          <a:xfrm>
            <a:off x="0" y="4419600"/>
            <a:ext cx="12192000" cy="2438400"/>
          </a:xfrm>
          <a:prstGeom prst="rect">
            <a:avLst/>
          </a:prstGeom>
          <a:ln>
            <a:noFill/>
          </a:ln>
        </p:spPr>
      </p:pic>
      <p:pic>
        <p:nvPicPr>
          <p:cNvPr id="18" name="Google Shape;18;p5">
            <a:extLst>
              <a:ext uri="{FF2B5EF4-FFF2-40B4-BE49-F238E27FC236}">
                <a16:creationId xmlns:a16="http://schemas.microsoft.com/office/drawing/2014/main" id="{8CC476DE-5C04-49E2-9D42-E81E8489996D}"/>
              </a:ext>
            </a:extLst>
          </p:cNvPr>
          <p:cNvPicPr>
            <a:picLocks noChangeAspect="1"/>
          </p:cNvPicPr>
          <p:nvPr/>
        </p:nvPicPr>
        <p:blipFill rotWithShape="1">
          <a:blip r:embed="rId4">
            <a:alphaModFix/>
          </a:blip>
          <a:srcRect/>
          <a:stretch/>
        </p:blipFill>
        <p:spPr>
          <a:xfrm>
            <a:off x="9830830" y="3686830"/>
            <a:ext cx="1905000" cy="522306"/>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
        <p:cNvGrpSpPr/>
        <p:nvPr/>
      </p:nvGrpSpPr>
      <p:grpSpPr>
        <a:xfrm>
          <a:off x="0" y="0"/>
          <a:ext cx="0" cy="0"/>
          <a:chOff x="0" y="0"/>
          <a:chExt cx="0" cy="0"/>
        </a:xfrm>
      </p:grpSpPr>
      <p:pic>
        <p:nvPicPr>
          <p:cNvPr id="20" name="Google Shape;20;p6">
            <a:extLst>
              <a:ext uri="{FF2B5EF4-FFF2-40B4-BE49-F238E27FC236}">
                <a16:creationId xmlns:a16="http://schemas.microsoft.com/office/drawing/2014/main" id="{654373A4-84AE-4969-9431-9DD489683B02}"/>
              </a:ext>
            </a:extLst>
          </p:cNvPr>
          <p:cNvPicPr>
            <a:picLocks noChangeAspect="1"/>
          </p:cNvPicPr>
          <p:nvPr/>
        </p:nvPicPr>
        <p:blipFill rotWithShape="1">
          <a:blip r:embed="rId2">
            <a:alphaModFix/>
          </a:blip>
          <a:srcRect/>
          <a:stretch/>
        </p:blipFill>
        <p:spPr>
          <a:xfrm>
            <a:off x="10797369" y="6362197"/>
            <a:ext cx="960461" cy="372478"/>
          </a:xfrm>
          <a:prstGeom prst="rect">
            <a:avLst/>
          </a:prstGeom>
          <a:ln>
            <a:noFill/>
          </a:ln>
        </p:spPr>
      </p:pic>
      <p:pic>
        <p:nvPicPr>
          <p:cNvPr id="21" name="Google Shape;21;p6">
            <a:extLst>
              <a:ext uri="{FF2B5EF4-FFF2-40B4-BE49-F238E27FC236}">
                <a16:creationId xmlns:a16="http://schemas.microsoft.com/office/drawing/2014/main" id="{02FDBEC2-D9E3-419C-AD99-B62E6D1EB682}"/>
              </a:ext>
            </a:extLst>
          </p:cNvPr>
          <p:cNvPicPr>
            <a:picLocks noChangeAspect="1"/>
          </p:cNvPicPr>
          <p:nvPr/>
        </p:nvPicPr>
        <p:blipFill rotWithShape="1">
          <a:blip r:embed="rId3">
            <a:alphaModFix/>
          </a:blip>
          <a:srcRect/>
          <a:stretch/>
        </p:blipFill>
        <p:spPr>
          <a:xfrm>
            <a:off x="0" y="0"/>
            <a:ext cx="12192000" cy="714375"/>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_Blank">
  <p:cSld name="7_Blank">
    <p:spTree>
      <p:nvGrpSpPr>
        <p:cNvPr id="1" name=""/>
        <p:cNvGrpSpPr/>
        <p:nvPr/>
      </p:nvGrpSpPr>
      <p:grpSpPr>
        <a:xfrm>
          <a:off x="0" y="0"/>
          <a:ext cx="0" cy="0"/>
          <a:chOff x="0" y="0"/>
          <a:chExt cx="0" cy="0"/>
        </a:xfrm>
      </p:grpSpPr>
      <p:pic>
        <p:nvPicPr>
          <p:cNvPr id="23" name="Google Shape;23;p7">
            <a:extLst>
              <a:ext uri="{FF2B5EF4-FFF2-40B4-BE49-F238E27FC236}">
                <a16:creationId xmlns:a16="http://schemas.microsoft.com/office/drawing/2014/main" id="{2E70B79F-8C6C-4AB1-AFE8-80689EC8B762}"/>
              </a:ext>
            </a:extLst>
          </p:cNvPr>
          <p:cNvPicPr>
            <a:picLocks noChangeAspect="1"/>
          </p:cNvPicPr>
          <p:nvPr/>
        </p:nvPicPr>
        <p:blipFill rotWithShape="1">
          <a:blip r:embed="rId2">
            <a:alphaModFix amt="5000"/>
          </a:blip>
          <a:srcRect/>
          <a:stretch/>
        </p:blipFill>
        <p:spPr>
          <a:xfrm>
            <a:off x="3976469" y="2607021"/>
            <a:ext cx="4239062" cy="1643957"/>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25" name="Google Shape;25;p8">
            <a:extLst>
              <a:ext uri="{FF2B5EF4-FFF2-40B4-BE49-F238E27FC236}">
                <a16:creationId xmlns:a16="http://schemas.microsoft.com/office/drawing/2014/main" id="{C8393859-FEC1-4777-8E68-2A6FE4B12654}"/>
              </a:ext>
            </a:extLst>
          </p:cNvPr>
          <p:cNvSpPr>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ormAutofit/>
          </a:bodyPr>
          <a:lstStyle>
            <a:lvl1pPr algn="ctr">
              <a:lnSpc>
                <a:spcPct val="90000"/>
              </a:lnSpc>
              <a:spcBef>
                <a:spcPts val="0"/>
              </a:spcBef>
              <a:spcAft>
                <a:spcPts val="0"/>
              </a:spcAft>
              <a:buClr>
                <a:schemeClr val="dk1"/>
              </a:buClr>
              <a:buSzPts val="6000"/>
              <a:buFont typeface="Calibri"/>
              <a:buNone/>
              <a:defRPr sz="6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6" name="Google Shape;26;p8">
            <a:extLst>
              <a:ext uri="{FF2B5EF4-FFF2-40B4-BE49-F238E27FC236}">
                <a16:creationId xmlns:a16="http://schemas.microsoft.com/office/drawing/2014/main" id="{6EB7C956-669E-4D74-A271-F3AC3CE78FE0}"/>
              </a:ext>
            </a:extLst>
          </p:cNvPr>
          <p:cNvSpPr>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ormAutofit/>
          </a:bodyPr>
          <a:lstStyle>
            <a:lvl1pPr algn="ctr">
              <a:lnSpc>
                <a:spcPct val="90000"/>
              </a:lnSpc>
              <a:spcBef>
                <a:spcPts val="1000"/>
              </a:spcBef>
              <a:spcAft>
                <a:spcPts val="0"/>
              </a:spcAft>
              <a:buClr>
                <a:schemeClr val="dk1"/>
              </a:buClr>
              <a:buSzPts val="2400"/>
              <a:buNone/>
              <a:defRPr sz="2400"/>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a:endParaRPr/>
          </a:p>
        </p:txBody>
      </p:sp>
      <p:sp>
        <p:nvSpPr>
          <p:cNvPr id="27" name="Google Shape;27;p8">
            <a:extLst>
              <a:ext uri="{FF2B5EF4-FFF2-40B4-BE49-F238E27FC236}">
                <a16:creationId xmlns:a16="http://schemas.microsoft.com/office/drawing/2014/main" id="{70CFDCD2-9BE1-4C65-8323-684C637C87C9}"/>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8" name="Google Shape;28;p8">
            <a:extLst>
              <a:ext uri="{FF2B5EF4-FFF2-40B4-BE49-F238E27FC236}">
                <a16:creationId xmlns:a16="http://schemas.microsoft.com/office/drawing/2014/main" id="{A8E26D6E-3B2F-455B-9312-E0F7BE3B396A}"/>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9" name="Google Shape;29;p8">
            <a:extLst>
              <a:ext uri="{FF2B5EF4-FFF2-40B4-BE49-F238E27FC236}">
                <a16:creationId xmlns:a16="http://schemas.microsoft.com/office/drawing/2014/main" id="{109448BE-03BE-4FFF-9EAC-14B4A5933A96}"/>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
        <p:cNvGrpSpPr/>
        <p:nvPr/>
      </p:nvGrpSpPr>
      <p:grpSpPr>
        <a:xfrm>
          <a:off x="0" y="0"/>
          <a:ext cx="0" cy="0"/>
          <a:chOff x="0" y="0"/>
          <a:chExt cx="0" cy="0"/>
        </a:xfrm>
      </p:grpSpPr>
      <p:sp>
        <p:nvSpPr>
          <p:cNvPr id="31" name="Google Shape;31;p9">
            <a:extLst>
              <a:ext uri="{FF2B5EF4-FFF2-40B4-BE49-F238E27FC236}">
                <a16:creationId xmlns:a16="http://schemas.microsoft.com/office/drawing/2014/main" id="{9F3A66E0-C7E3-4ED0-8610-66CB224D1E32}"/>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2" name="Google Shape;32;p9">
            <a:extLst>
              <a:ext uri="{FF2B5EF4-FFF2-40B4-BE49-F238E27FC236}">
                <a16:creationId xmlns:a16="http://schemas.microsoft.com/office/drawing/2014/main" id="{389FC704-6147-4DDD-B11A-0BA4BDA63887}"/>
              </a:ext>
            </a:extLst>
          </p:cNvPr>
          <p:cNvSpPr>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33" name="Google Shape;33;p9">
            <a:extLst>
              <a:ext uri="{FF2B5EF4-FFF2-40B4-BE49-F238E27FC236}">
                <a16:creationId xmlns:a16="http://schemas.microsoft.com/office/drawing/2014/main" id="{45B5E4EF-925A-4B34-9C80-890D0542DBD5}"/>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4" name="Google Shape;34;p9">
            <a:extLst>
              <a:ext uri="{FF2B5EF4-FFF2-40B4-BE49-F238E27FC236}">
                <a16:creationId xmlns:a16="http://schemas.microsoft.com/office/drawing/2014/main" id="{BF7DC803-7CFB-4973-B6FD-28B42BF82689}"/>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5" name="Google Shape;35;p9">
            <a:extLst>
              <a:ext uri="{FF2B5EF4-FFF2-40B4-BE49-F238E27FC236}">
                <a16:creationId xmlns:a16="http://schemas.microsoft.com/office/drawing/2014/main" id="{B039BF77-0D8F-468E-9472-577F10C0CFE0}"/>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37" name="Google Shape;37;p10">
            <a:extLst>
              <a:ext uri="{FF2B5EF4-FFF2-40B4-BE49-F238E27FC236}">
                <a16:creationId xmlns:a16="http://schemas.microsoft.com/office/drawing/2014/main" id="{42B0B074-C713-4576-ABAF-19220CEA6A36}"/>
              </a:ext>
            </a:extLst>
          </p:cNvPr>
          <p:cNvSpPr>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6000"/>
              <a:buFont typeface="Calibri"/>
              <a:buNone/>
              <a:defRPr sz="6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8" name="Google Shape;38;p10">
            <a:extLst>
              <a:ext uri="{FF2B5EF4-FFF2-40B4-BE49-F238E27FC236}">
                <a16:creationId xmlns:a16="http://schemas.microsoft.com/office/drawing/2014/main" id="{C0AFF711-A36D-4786-815D-848D17CF9F03}"/>
              </a:ext>
            </a:extLst>
          </p:cNvPr>
          <p:cNvSpPr>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rgbClr val="888888"/>
              </a:buClr>
              <a:buSzPts val="2400"/>
              <a:buNone/>
              <a:defRPr sz="2400">
                <a:solidFill>
                  <a:srgbClr val="888888"/>
                </a:solidFill>
              </a:defRPr>
            </a:lvl1pPr>
            <a:lvl2pPr marL="914400" indent="-228600" algn="l">
              <a:lnSpc>
                <a:spcPct val="90000"/>
              </a:lnSpc>
              <a:spcBef>
                <a:spcPts val="500"/>
              </a:spcBef>
              <a:spcAft>
                <a:spcPts val="0"/>
              </a:spcAft>
              <a:buClr>
                <a:srgbClr val="888888"/>
              </a:buClr>
              <a:buSzPts val="2000"/>
              <a:buNone/>
              <a:defRPr sz="2000">
                <a:solidFill>
                  <a:srgbClr val="888888"/>
                </a:solidFill>
              </a:defRPr>
            </a:lvl2pPr>
            <a:lvl3pPr marL="1371600" indent="-228600" algn="l">
              <a:lnSpc>
                <a:spcPct val="90000"/>
              </a:lnSpc>
              <a:spcBef>
                <a:spcPts val="500"/>
              </a:spcBef>
              <a:spcAft>
                <a:spcPts val="0"/>
              </a:spcAft>
              <a:buClr>
                <a:srgbClr val="888888"/>
              </a:buClr>
              <a:buSzPts val="1800"/>
              <a:buNone/>
              <a:defRPr sz="1800">
                <a:solidFill>
                  <a:srgbClr val="888888"/>
                </a:solidFill>
              </a:defRPr>
            </a:lvl3pPr>
            <a:lvl4pPr marL="1828800" indent="-228600" algn="l">
              <a:lnSpc>
                <a:spcPct val="90000"/>
              </a:lnSpc>
              <a:spcBef>
                <a:spcPts val="500"/>
              </a:spcBef>
              <a:spcAft>
                <a:spcPts val="0"/>
              </a:spcAft>
              <a:buClr>
                <a:srgbClr val="888888"/>
              </a:buClr>
              <a:buSzPts val="1600"/>
              <a:buNone/>
              <a:defRPr sz="1600">
                <a:solidFill>
                  <a:srgbClr val="888888"/>
                </a:solidFill>
              </a:defRPr>
            </a:lvl4pPr>
            <a:lvl5pPr marL="2286000" indent="-228600" algn="l">
              <a:lnSpc>
                <a:spcPct val="90000"/>
              </a:lnSpc>
              <a:spcBef>
                <a:spcPts val="500"/>
              </a:spcBef>
              <a:spcAft>
                <a:spcPts val="0"/>
              </a:spcAft>
              <a:buClr>
                <a:srgbClr val="888888"/>
              </a:buClr>
              <a:buSzPts val="1600"/>
              <a:buNone/>
              <a:defRPr sz="1600">
                <a:solidFill>
                  <a:srgbClr val="888888"/>
                </a:solidFill>
              </a:defRPr>
            </a:lvl5pPr>
            <a:lvl6pPr marL="2743200" indent="-228600" algn="l">
              <a:lnSpc>
                <a:spcPct val="90000"/>
              </a:lnSpc>
              <a:spcBef>
                <a:spcPts val="500"/>
              </a:spcBef>
              <a:spcAft>
                <a:spcPts val="0"/>
              </a:spcAft>
              <a:buClr>
                <a:srgbClr val="888888"/>
              </a:buClr>
              <a:buSzPts val="1600"/>
              <a:buNone/>
              <a:defRPr sz="1600">
                <a:solidFill>
                  <a:srgbClr val="888888"/>
                </a:solidFill>
              </a:defRPr>
            </a:lvl6pPr>
            <a:lvl7pPr marL="3200400" indent="-228600" algn="l">
              <a:lnSpc>
                <a:spcPct val="90000"/>
              </a:lnSpc>
              <a:spcBef>
                <a:spcPts val="500"/>
              </a:spcBef>
              <a:spcAft>
                <a:spcPts val="0"/>
              </a:spcAft>
              <a:buClr>
                <a:srgbClr val="888888"/>
              </a:buClr>
              <a:buSzPts val="1600"/>
              <a:buNone/>
              <a:defRPr sz="1600">
                <a:solidFill>
                  <a:srgbClr val="888888"/>
                </a:solidFill>
              </a:defRPr>
            </a:lvl7pPr>
            <a:lvl8pPr marL="3657600" indent="-228600" algn="l">
              <a:lnSpc>
                <a:spcPct val="90000"/>
              </a:lnSpc>
              <a:spcBef>
                <a:spcPts val="500"/>
              </a:spcBef>
              <a:spcAft>
                <a:spcPts val="0"/>
              </a:spcAft>
              <a:buClr>
                <a:srgbClr val="888888"/>
              </a:buClr>
              <a:buSzPts val="1600"/>
              <a:buNone/>
              <a:defRPr sz="1600">
                <a:solidFill>
                  <a:srgbClr val="888888"/>
                </a:solidFill>
              </a:defRPr>
            </a:lvl8pPr>
            <a:lvl9pPr marL="4114800"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10">
            <a:extLst>
              <a:ext uri="{FF2B5EF4-FFF2-40B4-BE49-F238E27FC236}">
                <a16:creationId xmlns:a16="http://schemas.microsoft.com/office/drawing/2014/main" id="{118F961E-2E88-4DAB-9637-084183BEF5AF}"/>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0" name="Google Shape;40;p10">
            <a:extLst>
              <a:ext uri="{FF2B5EF4-FFF2-40B4-BE49-F238E27FC236}">
                <a16:creationId xmlns:a16="http://schemas.microsoft.com/office/drawing/2014/main" id="{252D63E5-3983-43DE-B66A-3995A3BF3707}"/>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1" name="Google Shape;41;p10">
            <a:extLst>
              <a:ext uri="{FF2B5EF4-FFF2-40B4-BE49-F238E27FC236}">
                <a16:creationId xmlns:a16="http://schemas.microsoft.com/office/drawing/2014/main" id="{AAEBAAB0-1E97-458D-B8D8-F730D5F97EB2}"/>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
        <p:cNvGrpSpPr/>
        <p:nvPr/>
      </p:nvGrpSpPr>
      <p:grpSpPr>
        <a:xfrm>
          <a:off x="0" y="0"/>
          <a:ext cx="0" cy="0"/>
          <a:chOff x="0" y="0"/>
          <a:chExt cx="0" cy="0"/>
        </a:xfrm>
      </p:grpSpPr>
      <p:sp>
        <p:nvSpPr>
          <p:cNvPr id="43" name="Google Shape;43;p11">
            <a:extLst>
              <a:ext uri="{FF2B5EF4-FFF2-40B4-BE49-F238E27FC236}">
                <a16:creationId xmlns:a16="http://schemas.microsoft.com/office/drawing/2014/main" id="{147106E8-848A-4237-9243-CF1D1EED6342}"/>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4" name="Google Shape;44;p11">
            <a:extLst>
              <a:ext uri="{FF2B5EF4-FFF2-40B4-BE49-F238E27FC236}">
                <a16:creationId xmlns:a16="http://schemas.microsoft.com/office/drawing/2014/main" id="{3641CA47-AAB9-4E00-8F05-ECCD5B068781}"/>
              </a:ext>
            </a:extLst>
          </p:cNvPr>
          <p:cNvSpPr>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45" name="Google Shape;45;p11">
            <a:extLst>
              <a:ext uri="{FF2B5EF4-FFF2-40B4-BE49-F238E27FC236}">
                <a16:creationId xmlns:a16="http://schemas.microsoft.com/office/drawing/2014/main" id="{7AF16D92-CA92-4721-8BE1-A86369ADDDF0}"/>
              </a:ext>
            </a:extLst>
          </p:cNvPr>
          <p:cNvSpPr>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46" name="Google Shape;46;p11">
            <a:extLst>
              <a:ext uri="{FF2B5EF4-FFF2-40B4-BE49-F238E27FC236}">
                <a16:creationId xmlns:a16="http://schemas.microsoft.com/office/drawing/2014/main" id="{7214D374-4127-47C0-8E2F-4A355DF409FA}"/>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7" name="Google Shape;47;p11">
            <a:extLst>
              <a:ext uri="{FF2B5EF4-FFF2-40B4-BE49-F238E27FC236}">
                <a16:creationId xmlns:a16="http://schemas.microsoft.com/office/drawing/2014/main" id="{1F8A8E90-C6CE-4E26-95E2-BC8E832A5FD0}"/>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8" name="Google Shape;48;p11">
            <a:extLst>
              <a:ext uri="{FF2B5EF4-FFF2-40B4-BE49-F238E27FC236}">
                <a16:creationId xmlns:a16="http://schemas.microsoft.com/office/drawing/2014/main" id="{DAF50425-50EA-474F-8714-3BA929C4AFD1}"/>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
        <p:cNvGrpSpPr/>
        <p:nvPr/>
      </p:nvGrpSpPr>
      <p:grpSpPr>
        <a:xfrm>
          <a:off x="0" y="0"/>
          <a:ext cx="0" cy="0"/>
          <a:chOff x="0" y="0"/>
          <a:chExt cx="0" cy="0"/>
        </a:xfrm>
      </p:grpSpPr>
      <p:sp>
        <p:nvSpPr>
          <p:cNvPr id="50" name="Google Shape;50;p12">
            <a:extLst>
              <a:ext uri="{FF2B5EF4-FFF2-40B4-BE49-F238E27FC236}">
                <a16:creationId xmlns:a16="http://schemas.microsoft.com/office/drawing/2014/main" id="{EB10A2FD-1212-40CF-AA8C-6527F4FD9BF9}"/>
              </a:ext>
            </a:extLst>
          </p:cNvPr>
          <p:cNvSpPr>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1" name="Google Shape;51;p12">
            <a:extLst>
              <a:ext uri="{FF2B5EF4-FFF2-40B4-BE49-F238E27FC236}">
                <a16:creationId xmlns:a16="http://schemas.microsoft.com/office/drawing/2014/main" id="{FEFE69D6-763B-46EE-A7C9-D803C2A041EA}"/>
              </a:ext>
            </a:extLst>
          </p:cNvPr>
          <p:cNvSpPr>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a:endParaRPr/>
          </a:p>
        </p:txBody>
      </p:sp>
      <p:sp>
        <p:nvSpPr>
          <p:cNvPr id="52" name="Google Shape;52;p12">
            <a:extLst>
              <a:ext uri="{FF2B5EF4-FFF2-40B4-BE49-F238E27FC236}">
                <a16:creationId xmlns:a16="http://schemas.microsoft.com/office/drawing/2014/main" id="{B0FDF27F-F6C6-4606-8B62-E15BDF679A22}"/>
              </a:ext>
            </a:extLst>
          </p:cNvPr>
          <p:cNvSpPr>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53" name="Google Shape;53;p12">
            <a:extLst>
              <a:ext uri="{FF2B5EF4-FFF2-40B4-BE49-F238E27FC236}">
                <a16:creationId xmlns:a16="http://schemas.microsoft.com/office/drawing/2014/main" id="{CDDE34E8-9F66-4954-B0A8-9DE800DCE956}"/>
              </a:ext>
            </a:extLst>
          </p:cNvPr>
          <p:cNvSpPr>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a:endParaRPr/>
          </a:p>
        </p:txBody>
      </p:sp>
      <p:sp>
        <p:nvSpPr>
          <p:cNvPr id="54" name="Google Shape;54;p12">
            <a:extLst>
              <a:ext uri="{FF2B5EF4-FFF2-40B4-BE49-F238E27FC236}">
                <a16:creationId xmlns:a16="http://schemas.microsoft.com/office/drawing/2014/main" id="{E567939F-C398-4D01-8111-F5BA929765BB}"/>
              </a:ext>
            </a:extLst>
          </p:cNvPr>
          <p:cNvSpPr>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55" name="Google Shape;55;p12">
            <a:extLst>
              <a:ext uri="{FF2B5EF4-FFF2-40B4-BE49-F238E27FC236}">
                <a16:creationId xmlns:a16="http://schemas.microsoft.com/office/drawing/2014/main" id="{E4E23BCC-3BEF-4529-B4AD-BB44D879B66C}"/>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6" name="Google Shape;56;p12">
            <a:extLst>
              <a:ext uri="{FF2B5EF4-FFF2-40B4-BE49-F238E27FC236}">
                <a16:creationId xmlns:a16="http://schemas.microsoft.com/office/drawing/2014/main" id="{2D0A07CF-AEDA-468E-886E-46FEEE2F6ABC}"/>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7" name="Google Shape;57;p12">
            <a:extLst>
              <a:ext uri="{FF2B5EF4-FFF2-40B4-BE49-F238E27FC236}">
                <a16:creationId xmlns:a16="http://schemas.microsoft.com/office/drawing/2014/main" id="{D998D6E0-5859-474C-B03C-BAF45603DB0B}"/>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59" name="Google Shape;59;p13">
            <a:extLst>
              <a:ext uri="{FF2B5EF4-FFF2-40B4-BE49-F238E27FC236}">
                <a16:creationId xmlns:a16="http://schemas.microsoft.com/office/drawing/2014/main" id="{403EE557-018D-4945-9333-ABF2B55D996D}"/>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0" name="Google Shape;60;p13">
            <a:extLst>
              <a:ext uri="{FF2B5EF4-FFF2-40B4-BE49-F238E27FC236}">
                <a16:creationId xmlns:a16="http://schemas.microsoft.com/office/drawing/2014/main" id="{4F6D4DEE-E5AC-48E7-8A43-C37EC8853E76}"/>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1" name="Google Shape;61;p13">
            <a:extLst>
              <a:ext uri="{FF2B5EF4-FFF2-40B4-BE49-F238E27FC236}">
                <a16:creationId xmlns:a16="http://schemas.microsoft.com/office/drawing/2014/main" id="{5D9D89D5-BA8D-4A81-A48C-72E8C8831217}"/>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2" name="Google Shape;62;p13">
            <a:extLst>
              <a:ext uri="{FF2B5EF4-FFF2-40B4-BE49-F238E27FC236}">
                <a16:creationId xmlns:a16="http://schemas.microsoft.com/office/drawing/2014/main" id="{2202D3AC-9E1D-4BC8-8E1C-FF86C39B35BB}"/>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
        <p:cNvGrpSpPr/>
        <p:nvPr/>
      </p:nvGrpSpPr>
      <p:grpSpPr>
        <a:xfrm>
          <a:off x="0" y="0"/>
          <a:ext cx="0" cy="0"/>
          <a:chOff x="0" y="0"/>
          <a:chExt cx="0" cy="0"/>
        </a:xfrm>
      </p:grpSpPr>
      <p:sp>
        <p:nvSpPr>
          <p:cNvPr id="65" name="Google Shape;65;p15">
            <a:extLst>
              <a:ext uri="{FF2B5EF4-FFF2-40B4-BE49-F238E27FC236}">
                <a16:creationId xmlns:a16="http://schemas.microsoft.com/office/drawing/2014/main" id="{FF93BF1B-41EF-4610-8544-787972F02AA2}"/>
              </a:ext>
            </a:extLst>
          </p:cNvPr>
          <p:cNvSpPr>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6" name="Google Shape;66;p15">
            <a:extLst>
              <a:ext uri="{FF2B5EF4-FFF2-40B4-BE49-F238E27FC236}">
                <a16:creationId xmlns:a16="http://schemas.microsoft.com/office/drawing/2014/main" id="{D86B4770-1AC6-4715-99BC-28E66C83D66A}"/>
              </a:ext>
            </a:extLst>
          </p:cNvPr>
          <p:cNvSpPr>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ormAutofit/>
          </a:bodyPr>
          <a:lstStyle>
            <a:lvl1pPr marL="457200" indent="-431800" algn="l">
              <a:lnSpc>
                <a:spcPct val="90000"/>
              </a:lnSpc>
              <a:spcBef>
                <a:spcPts val="1000"/>
              </a:spcBef>
              <a:spcAft>
                <a:spcPts val="0"/>
              </a:spcAft>
              <a:buClr>
                <a:schemeClr val="dk1"/>
              </a:buClr>
              <a:buSzPts val="3200"/>
              <a:buChar char="•"/>
              <a:defRPr sz="3200"/>
            </a:lvl1pPr>
            <a:lvl2pPr marL="914400" indent="-406400" algn="l">
              <a:lnSpc>
                <a:spcPct val="90000"/>
              </a:lnSpc>
              <a:spcBef>
                <a:spcPts val="500"/>
              </a:spcBef>
              <a:spcAft>
                <a:spcPts val="0"/>
              </a:spcAft>
              <a:buClr>
                <a:schemeClr val="dk1"/>
              </a:buClr>
              <a:buSzPts val="2800"/>
              <a:buChar char="•"/>
              <a:defRPr sz="2800"/>
            </a:lvl2pPr>
            <a:lvl3pPr marL="1371600" indent="-381000" algn="l">
              <a:lnSpc>
                <a:spcPct val="90000"/>
              </a:lnSpc>
              <a:spcBef>
                <a:spcPts val="500"/>
              </a:spcBef>
              <a:spcAft>
                <a:spcPts val="0"/>
              </a:spcAft>
              <a:buClr>
                <a:schemeClr val="dk1"/>
              </a:buClr>
              <a:buSzPts val="2400"/>
              <a:buChar char="•"/>
              <a:defRPr sz="2400"/>
            </a:lvl3pPr>
            <a:lvl4pPr marL="1828800" indent="-355600" algn="l">
              <a:lnSpc>
                <a:spcPct val="90000"/>
              </a:lnSpc>
              <a:spcBef>
                <a:spcPts val="500"/>
              </a:spcBef>
              <a:spcAft>
                <a:spcPts val="0"/>
              </a:spcAft>
              <a:buClr>
                <a:schemeClr val="dk1"/>
              </a:buClr>
              <a:buSzPts val="2000"/>
              <a:buChar char="•"/>
              <a:defRPr sz="2000"/>
            </a:lvl4pPr>
            <a:lvl5pPr marL="2286000" indent="-355600" algn="l">
              <a:lnSpc>
                <a:spcPct val="90000"/>
              </a:lnSpc>
              <a:spcBef>
                <a:spcPts val="500"/>
              </a:spcBef>
              <a:spcAft>
                <a:spcPts val="0"/>
              </a:spcAft>
              <a:buClr>
                <a:schemeClr val="dk1"/>
              </a:buClr>
              <a:buSzPts val="2000"/>
              <a:buChar char="•"/>
              <a:defRPr sz="2000"/>
            </a:lvl5pPr>
            <a:lvl6pPr marL="2743200" indent="-355600" algn="l">
              <a:lnSpc>
                <a:spcPct val="90000"/>
              </a:lnSpc>
              <a:spcBef>
                <a:spcPts val="500"/>
              </a:spcBef>
              <a:spcAft>
                <a:spcPts val="0"/>
              </a:spcAft>
              <a:buClr>
                <a:schemeClr val="dk1"/>
              </a:buClr>
              <a:buSzPts val="2000"/>
              <a:buChar char="•"/>
              <a:defRPr sz="2000"/>
            </a:lvl6pPr>
            <a:lvl7pPr marL="3200400" indent="-355600" algn="l">
              <a:lnSpc>
                <a:spcPct val="90000"/>
              </a:lnSpc>
              <a:spcBef>
                <a:spcPts val="500"/>
              </a:spcBef>
              <a:spcAft>
                <a:spcPts val="0"/>
              </a:spcAft>
              <a:buClr>
                <a:schemeClr val="dk1"/>
              </a:buClr>
              <a:buSzPts val="2000"/>
              <a:buChar char="•"/>
              <a:defRPr sz="2000"/>
            </a:lvl7pPr>
            <a:lvl8pPr marL="3657600" indent="-355600" algn="l">
              <a:lnSpc>
                <a:spcPct val="90000"/>
              </a:lnSpc>
              <a:spcBef>
                <a:spcPts val="500"/>
              </a:spcBef>
              <a:spcAft>
                <a:spcPts val="0"/>
              </a:spcAft>
              <a:buClr>
                <a:schemeClr val="dk1"/>
              </a:buClr>
              <a:buSzPts val="2000"/>
              <a:buChar char="•"/>
              <a:defRPr sz="2000"/>
            </a:lvl8pPr>
            <a:lvl9pPr marL="4114800"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15">
            <a:extLst>
              <a:ext uri="{FF2B5EF4-FFF2-40B4-BE49-F238E27FC236}">
                <a16:creationId xmlns:a16="http://schemas.microsoft.com/office/drawing/2014/main" id="{C8FA5DBB-EEFA-4378-AB8A-42832964CA7B}"/>
              </a:ext>
            </a:extLst>
          </p:cNvPr>
          <p:cNvSpPr>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
        <p:nvSpPr>
          <p:cNvPr id="68" name="Google Shape;68;p15">
            <a:extLst>
              <a:ext uri="{FF2B5EF4-FFF2-40B4-BE49-F238E27FC236}">
                <a16:creationId xmlns:a16="http://schemas.microsoft.com/office/drawing/2014/main" id="{58B8E659-927E-4364-ACB5-AAE71BAA5F99}"/>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9" name="Google Shape;69;p15">
            <a:extLst>
              <a:ext uri="{FF2B5EF4-FFF2-40B4-BE49-F238E27FC236}">
                <a16:creationId xmlns:a16="http://schemas.microsoft.com/office/drawing/2014/main" id="{75C4EBE8-2E12-4713-A626-02F314B65C23}"/>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0" name="Google Shape;70;p15">
            <a:extLst>
              <a:ext uri="{FF2B5EF4-FFF2-40B4-BE49-F238E27FC236}">
                <a16:creationId xmlns:a16="http://schemas.microsoft.com/office/drawing/2014/main" id="{98268F0D-6475-4F48-A5F6-D03E89834BF8}"/>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72" name="Google Shape;72;p16">
            <a:extLst>
              <a:ext uri="{FF2B5EF4-FFF2-40B4-BE49-F238E27FC236}">
                <a16:creationId xmlns:a16="http://schemas.microsoft.com/office/drawing/2014/main" id="{6473DCF4-F390-43A9-8A36-10D79280E6F4}"/>
              </a:ext>
            </a:extLst>
          </p:cNvPr>
          <p:cNvSpPr>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3" name="Google Shape;73;p16">
            <a:extLst>
              <a:ext uri="{FF2B5EF4-FFF2-40B4-BE49-F238E27FC236}">
                <a16:creationId xmlns:a16="http://schemas.microsoft.com/office/drawing/2014/main" id="{65DF5208-49BA-4DB4-B744-DFB19C44E4E3}"/>
              </a:ext>
            </a:extLst>
          </p:cNvPr>
          <p:cNvSpPr>
            <a:spLocks noGrp="1"/>
          </p:cNvSpPr>
          <p:nvPr>
            <p:ph type="pic" idx="2"/>
          </p:nvPr>
        </p:nvSpPr>
        <p:spPr>
          <a:xfrm>
            <a:off x="5183188" y="987425"/>
            <a:ext cx="6172200" cy="4873625"/>
          </a:xfrm>
          <a:prstGeom prst="rect">
            <a:avLst/>
          </a:prstGeom>
          <a:noFill/>
          <a:ln>
            <a:noFill/>
          </a:ln>
        </p:spPr>
      </p:sp>
      <p:sp>
        <p:nvSpPr>
          <p:cNvPr id="74" name="Google Shape;74;p16">
            <a:extLst>
              <a:ext uri="{FF2B5EF4-FFF2-40B4-BE49-F238E27FC236}">
                <a16:creationId xmlns:a16="http://schemas.microsoft.com/office/drawing/2014/main" id="{A89E62A2-7C6E-4936-8970-5CC340E86DF4}"/>
              </a:ext>
            </a:extLst>
          </p:cNvPr>
          <p:cNvSpPr>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
        <p:nvSpPr>
          <p:cNvPr id="75" name="Google Shape;75;p16">
            <a:extLst>
              <a:ext uri="{FF2B5EF4-FFF2-40B4-BE49-F238E27FC236}">
                <a16:creationId xmlns:a16="http://schemas.microsoft.com/office/drawing/2014/main" id="{15B31BD4-E876-4AB0-A2B6-0375478856BD}"/>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6" name="Google Shape;76;p16">
            <a:extLst>
              <a:ext uri="{FF2B5EF4-FFF2-40B4-BE49-F238E27FC236}">
                <a16:creationId xmlns:a16="http://schemas.microsoft.com/office/drawing/2014/main" id="{B5AB32A0-1EA5-456B-B6EE-56A8103E3AA4}"/>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7" name="Google Shape;77;p16">
            <a:extLst>
              <a:ext uri="{FF2B5EF4-FFF2-40B4-BE49-F238E27FC236}">
                <a16:creationId xmlns:a16="http://schemas.microsoft.com/office/drawing/2014/main" id="{D5D38A17-9EBA-41A2-A59F-4C99CE366B8D}"/>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79" name="Google Shape;79;p17">
            <a:extLst>
              <a:ext uri="{FF2B5EF4-FFF2-40B4-BE49-F238E27FC236}">
                <a16:creationId xmlns:a16="http://schemas.microsoft.com/office/drawing/2014/main" id="{E34026AE-2B16-46A1-903A-EFC1A70AA608}"/>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0" name="Google Shape;80;p17">
            <a:extLst>
              <a:ext uri="{FF2B5EF4-FFF2-40B4-BE49-F238E27FC236}">
                <a16:creationId xmlns:a16="http://schemas.microsoft.com/office/drawing/2014/main" id="{5D3F31AA-9522-4001-A6A0-11CAF7DB97C9}"/>
              </a:ext>
            </a:extLst>
          </p:cNvPr>
          <p:cNvSpPr>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81" name="Google Shape;81;p17">
            <a:extLst>
              <a:ext uri="{FF2B5EF4-FFF2-40B4-BE49-F238E27FC236}">
                <a16:creationId xmlns:a16="http://schemas.microsoft.com/office/drawing/2014/main" id="{401AE441-50BC-42DF-8CA4-1E1ADE40BEB0}"/>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2" name="Google Shape;82;p17">
            <a:extLst>
              <a:ext uri="{FF2B5EF4-FFF2-40B4-BE49-F238E27FC236}">
                <a16:creationId xmlns:a16="http://schemas.microsoft.com/office/drawing/2014/main" id="{5D505A76-0B31-4B46-88EB-4CA319E128E2}"/>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3" name="Google Shape;83;p17">
            <a:extLst>
              <a:ext uri="{FF2B5EF4-FFF2-40B4-BE49-F238E27FC236}">
                <a16:creationId xmlns:a16="http://schemas.microsoft.com/office/drawing/2014/main" id="{6220247E-3FEB-4E18-893C-A33DE9FC3835}"/>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85" name="Google Shape;85;p18">
            <a:extLst>
              <a:ext uri="{FF2B5EF4-FFF2-40B4-BE49-F238E27FC236}">
                <a16:creationId xmlns:a16="http://schemas.microsoft.com/office/drawing/2014/main" id="{B9661741-BED3-4E1D-A33F-90C2B801E2B6}"/>
              </a:ext>
            </a:extLst>
          </p:cNvPr>
          <p:cNvSpPr>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6" name="Google Shape;86;p18">
            <a:extLst>
              <a:ext uri="{FF2B5EF4-FFF2-40B4-BE49-F238E27FC236}">
                <a16:creationId xmlns:a16="http://schemas.microsoft.com/office/drawing/2014/main" id="{B878608C-5456-49EC-8ECE-35DE7BBBD1F1}"/>
              </a:ext>
            </a:extLst>
          </p:cNvPr>
          <p:cNvSpPr>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87" name="Google Shape;87;p18">
            <a:extLst>
              <a:ext uri="{FF2B5EF4-FFF2-40B4-BE49-F238E27FC236}">
                <a16:creationId xmlns:a16="http://schemas.microsoft.com/office/drawing/2014/main" id="{7AEB9E71-E0B4-423A-927D-45C6B0905668}"/>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8" name="Google Shape;88;p18">
            <a:extLst>
              <a:ext uri="{FF2B5EF4-FFF2-40B4-BE49-F238E27FC236}">
                <a16:creationId xmlns:a16="http://schemas.microsoft.com/office/drawing/2014/main" id="{B95CF176-0569-48C7-BFEA-5CE18F4A2424}"/>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9" name="Google Shape;89;p18">
            <a:extLst>
              <a:ext uri="{FF2B5EF4-FFF2-40B4-BE49-F238E27FC236}">
                <a16:creationId xmlns:a16="http://schemas.microsoft.com/office/drawing/2014/main" id="{C2D34034-2789-49AD-AD09-EECFDF5B8840}"/>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4">
            <a:extLst>
              <a:ext uri="{FF2B5EF4-FFF2-40B4-BE49-F238E27FC236}">
                <a16:creationId xmlns:a16="http://schemas.microsoft.com/office/drawing/2014/main" id="{0CF550AA-38D4-4BE6-AB10-CD05C1A58D8D}"/>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marR="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a:endParaRPr/>
          </a:p>
        </p:txBody>
      </p:sp>
      <p:sp>
        <p:nvSpPr>
          <p:cNvPr id="11" name="Google Shape;11;p4">
            <a:extLst>
              <a:ext uri="{FF2B5EF4-FFF2-40B4-BE49-F238E27FC236}">
                <a16:creationId xmlns:a16="http://schemas.microsoft.com/office/drawing/2014/main" id="{52F67A81-B015-4F09-8564-894C2585B812}"/>
              </a:ext>
            </a:extLst>
          </p:cNvPr>
          <p:cNvSpPr>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ormAutofit/>
          </a:bodyPr>
          <a:lstStyle>
            <a:lvl1pPr marL="457200" marR="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1pPr>
            <a:lvl2pPr marL="914400" marR="0"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2pPr>
            <a:lvl3pPr marL="1371600" marR="0"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3pPr>
            <a:lvl4pPr marL="18288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endParaRPr/>
          </a:p>
        </p:txBody>
      </p:sp>
      <p:sp>
        <p:nvSpPr>
          <p:cNvPr id="12" name="Google Shape;12;p4">
            <a:extLst>
              <a:ext uri="{FF2B5EF4-FFF2-40B4-BE49-F238E27FC236}">
                <a16:creationId xmlns:a16="http://schemas.microsoft.com/office/drawing/2014/main" id="{62586E2E-AAA5-4F05-9B12-24EA20AB53C6}"/>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marR="0" algn="l">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endParaRPr/>
          </a:p>
        </p:txBody>
      </p:sp>
      <p:sp>
        <p:nvSpPr>
          <p:cNvPr id="13" name="Google Shape;13;p4">
            <a:extLst>
              <a:ext uri="{FF2B5EF4-FFF2-40B4-BE49-F238E27FC236}">
                <a16:creationId xmlns:a16="http://schemas.microsoft.com/office/drawing/2014/main" id="{834EB1E1-E187-4413-BE2C-E3AF235431FC}"/>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marR="0" algn="ctr">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endParaRPr/>
          </a:p>
        </p:txBody>
      </p:sp>
      <p:sp>
        <p:nvSpPr>
          <p:cNvPr id="14" name="Google Shape;14;p4">
            <a:extLst>
              <a:ext uri="{FF2B5EF4-FFF2-40B4-BE49-F238E27FC236}">
                <a16:creationId xmlns:a16="http://schemas.microsoft.com/office/drawing/2014/main" id="{AF5BF417-DDEF-4A94-935C-9941F2537D41}"/>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
        <p:cNvGrpSpPr/>
        <p:nvPr/>
      </p:nvGrpSpPr>
      <p:grpSpPr>
        <a:xfrm>
          <a:off x="0" y="0"/>
          <a:ext cx="0" cy="0"/>
          <a:chOff x="0" y="0"/>
          <a:chExt cx="0" cy="0"/>
        </a:xfrm>
      </p:grpSpPr>
      <p:sp>
        <p:nvSpPr>
          <p:cNvPr id="94" name="Google Shape;94;p1">
            <a:extLst>
              <a:ext uri="{FF2B5EF4-FFF2-40B4-BE49-F238E27FC236}">
                <a16:creationId xmlns:a16="http://schemas.microsoft.com/office/drawing/2014/main" id="{58F74AB4-A0D9-43FA-8A3E-0A3148577EF6}"/>
              </a:ext>
            </a:extLst>
          </p:cNvPr>
          <p:cNvSpPr>
            <a:spLocks noGrp="1"/>
          </p:cNvSpPr>
          <p:nvPr/>
        </p:nvSpPr>
        <p:spPr>
          <a:xfrm>
            <a:off x="666750" y="5124450"/>
            <a:ext cx="10858500" cy="571500"/>
          </a:xfrm>
          <a:prstGeom prst="rect">
            <a:avLst/>
          </a:prstGeom>
          <a:noFill/>
          <a:ln>
            <a:noFill/>
          </a:ln>
        </p:spPr>
        <p:txBody>
          <a:bodyPr spcFirstLastPara="1" wrap="square" lIns="91425" tIns="45700" rIns="91425" bIns="45700" anchor="ctr">
            <a:noAutofit/>
          </a:bodyPr>
          <a:lstStyle>
            <a:defPPr algn="ctr">
              <a:defRPr sz="2800" b="1">
                <a:solidFill>
                  <a:srgbClr val="FFFFFF"/>
                </a:solidFill>
                <a:latin typeface="Calibri"/>
                <a:ea typeface="Calibri"/>
                <a:cs typeface="Calibri"/>
              </a:defRPr>
            </a:defPPr>
          </a:lstStyle>
          <a:p>
            <a:pPr marL="0" marR="0" lvl="0" indent="0" algn="ctr">
              <a:lnSpc>
                <a:spcPct val="100000"/>
              </a:lnSpc>
              <a:spcBef>
                <a:spcPts val="0"/>
              </a:spcBef>
              <a:spcAft>
                <a:spcPts val="0"/>
              </a:spcAft>
              <a:buClr>
                <a:srgbClr val="000000"/>
              </a:buClr>
              <a:buSzPts val="2800"/>
              <a:buFont typeface="Arial"/>
              <a:buNone/>
              <a:defRPr sz="2800" b="1">
                <a:solidFill>
                  <a:srgbClr val="FFFFFF"/>
                </a:solidFill>
                <a:latin typeface="Calibri"/>
                <a:ea typeface="Calibri"/>
                <a:cs typeface="Calibri"/>
              </a:defRPr>
            </a:pPr>
            <a:r>
              <a:rPr sz="2800" b="1" i="0" u="none" strike="noStrike" cap="none" dirty="0">
                <a:solidFill>
                  <a:srgbClr val="FFFFFF"/>
                </a:solidFill>
                <a:latin typeface="Calibri"/>
                <a:ea typeface="Calibri"/>
                <a:cs typeface="Calibri"/>
              </a:rPr>
              <a:t>Conversational Wikipedia RAG</a:t>
            </a:r>
            <a:endParaRPr sz="1400" b="0" i="0" u="none" strike="noStrike" cap="none" dirty="0">
              <a:solidFill>
                <a:srgbClr val="000000"/>
              </a:solidFill>
              <a:latin typeface="Arial"/>
              <a:ea typeface="Arial"/>
              <a:cs typeface="Arial"/>
            </a:endParaRPr>
          </a:p>
        </p:txBody>
      </p:sp>
      <p:sp>
        <p:nvSpPr>
          <p:cNvPr id="95" name="Capstone Design Review  •  Duncan Earl">
            <a:extLst>
              <a:ext uri="{FF2B5EF4-FFF2-40B4-BE49-F238E27FC236}">
                <a16:creationId xmlns:a16="http://schemas.microsoft.com/office/drawing/2014/main" id="{116BA018-CFBD-4FA3-A1C8-5DD6CD5E5FBC}"/>
              </a:ext>
            </a:extLst>
          </p:cNvPr>
          <p:cNvSpPr>
            <a:spLocks noGrp="1"/>
          </p:cNvSpPr>
          <p:nvPr/>
        </p:nvSpPr>
        <p:spPr>
          <a:xfrm>
            <a:off x="1047750" y="5848350"/>
            <a:ext cx="10096500" cy="428625"/>
          </a:xfrm>
          <a:prstGeom prst="rect">
            <a:avLst/>
          </a:prstGeom>
          <a:noFill/>
          <a:ln w="0">
            <a:noFill/>
            <a:prstDash val="solid"/>
          </a:ln>
        </p:spPr>
        <p:txBody>
          <a:bodyPr lIns="0" tIns="0" rIns="0" bIns="0" anchor="t">
            <a:noAutofit/>
          </a:bodyPr>
          <a:lstStyle>
            <a:defPPr algn="ctr">
              <a:defRPr sz="2000" b="0">
                <a:solidFill>
                  <a:srgbClr val="FFFFFF"/>
                </a:solidFill>
                <a:latin typeface="Calibri"/>
                <a:ea typeface="Calibri"/>
                <a:cs typeface="Calibri"/>
              </a:defRPr>
            </a:defPPr>
          </a:lstStyle>
          <a:p>
            <a:pPr algn="ctr">
              <a:buNone/>
              <a:defRPr sz="2000" b="0">
                <a:solidFill>
                  <a:srgbClr val="FFFFFF"/>
                </a:solidFill>
                <a:latin typeface="Calibri"/>
                <a:ea typeface="Calibri"/>
                <a:cs typeface="Calibri"/>
              </a:defRPr>
            </a:pPr>
            <a:r>
              <a:rPr sz="2000" b="0" dirty="0">
                <a:solidFill>
                  <a:srgbClr val="FFFFFF"/>
                </a:solidFill>
                <a:latin typeface="Calibri"/>
                <a:ea typeface="Calibri"/>
                <a:cs typeface="Calibri"/>
              </a:rPr>
              <a:t>Duncan Earl   /   Capstone Design Review   /   October 1</a:t>
            </a:r>
            <a:r>
              <a:rPr lang="en-US" sz="2000" b="0" dirty="0">
                <a:solidFill>
                  <a:srgbClr val="FFFFFF"/>
                </a:solidFill>
                <a:latin typeface="Calibri"/>
                <a:ea typeface="Calibri"/>
                <a:cs typeface="Calibri"/>
              </a:rPr>
              <a:t>5</a:t>
            </a:r>
            <a:r>
              <a:rPr sz="2000" b="0" dirty="0">
                <a:solidFill>
                  <a:srgbClr val="FFFFFF"/>
                </a:solidFill>
                <a:latin typeface="Calibri"/>
                <a:ea typeface="Calibri"/>
                <a:cs typeface="Calibri"/>
              </a:rPr>
              <a:t>, 2026</a:t>
            </a:r>
          </a:p>
        </p:txBody>
      </p:sp>
    </p:spTree>
    <p:extLst>
      <p:ext uri="{BB962C8B-B14F-4D97-AF65-F5344CB8AC3E}">
        <p14:creationId xmlns:p14="http://schemas.microsoft.com/office/powerpoint/2010/main" val="44433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3EA4E-16F4-437A-B3C7-7D165B8F0B52}"/>
              </a:ext>
            </a:extLst>
          </p:cNvPr>
          <p:cNvSpPr>
            <a:spLocks noGrp="1"/>
          </p:cNvSpPr>
          <p:nvPr/>
        </p:nvSpPr>
        <p:spPr>
          <a:xfrm>
            <a:off x="714375" y="1420257"/>
            <a:ext cx="10763250" cy="523875"/>
          </a:xfrm>
          <a:prstGeom prst="rect">
            <a:avLst/>
          </a:prstGeom>
          <a:noFill/>
          <a:ln w="0">
            <a:noFill/>
            <a:prstDash val="solid"/>
          </a:ln>
        </p:spPr>
        <p:txBody>
          <a:bodyPr/>
          <a:lstStyle>
            <a:defPPr algn="ctr">
              <a:defRPr sz="2700" b="1">
                <a:solidFill>
                  <a:srgbClr val="A91D36"/>
                </a:solidFill>
                <a:latin typeface="Calibri"/>
                <a:ea typeface="Calibri"/>
                <a:cs typeface="Calibri"/>
              </a:defRPr>
            </a:defPPr>
          </a:lstStyle>
          <a:p>
            <a:pPr algn="ctr">
              <a:defRPr sz="2700" b="1">
                <a:solidFill>
                  <a:srgbClr val="A91D36"/>
                </a:solidFill>
                <a:latin typeface="Calibri"/>
                <a:ea typeface="Calibri"/>
                <a:cs typeface="Calibri"/>
              </a:defRPr>
            </a:pPr>
            <a:r>
              <a:rPr sz="2700" b="1">
                <a:solidFill>
                  <a:srgbClr val="A91D36"/>
                </a:solidFill>
                <a:latin typeface="Calibri"/>
                <a:ea typeface="Calibri"/>
                <a:cs typeface="Calibri"/>
              </a:rPr>
              <a:t>Project Overview</a:t>
            </a:r>
          </a:p>
        </p:txBody>
      </p:sp>
      <p:sp>
        <p:nvSpPr>
          <p:cNvPr id="2" name="Rectangle 1">
            <a:extLst>
              <a:ext uri="{FF2B5EF4-FFF2-40B4-BE49-F238E27FC236}">
                <a16:creationId xmlns:a16="http://schemas.microsoft.com/office/drawing/2014/main" id="{2626D0BC-1B37-4C96-848D-70C0B9E89077}"/>
              </a:ext>
            </a:extLst>
          </p:cNvPr>
          <p:cNvSpPr>
            <a:spLocks noGrp="1"/>
          </p:cNvSpPr>
          <p:nvPr/>
        </p:nvSpPr>
        <p:spPr>
          <a:xfrm>
            <a:off x="809625" y="2248932"/>
            <a:ext cx="10572750" cy="952500"/>
          </a:xfrm>
          <a:prstGeom prst="rect">
            <a:avLst/>
          </a:prstGeom>
          <a:noFill/>
          <a:ln w="0">
            <a:noFill/>
            <a:prstDash val="solid"/>
          </a:ln>
        </p:spPr>
        <p:txBody>
          <a:bodyPr/>
          <a:lstStyle>
            <a:defPPr algn="ctr">
              <a:defRPr sz="2700" b="1">
                <a:solidFill>
                  <a:srgbClr val="A91D36"/>
                </a:solidFill>
                <a:latin typeface="Calibri"/>
                <a:ea typeface="Calibri"/>
                <a:cs typeface="Calibri"/>
              </a:defRPr>
            </a:defPPr>
          </a:lstStyle>
          <a:p>
            <a:pPr algn="ctr">
              <a:defRPr sz="2700" b="1">
                <a:solidFill>
                  <a:srgbClr val="A91D36"/>
                </a:solidFill>
                <a:latin typeface="Calibri"/>
                <a:ea typeface="Calibri"/>
                <a:cs typeface="Calibri"/>
              </a:defRPr>
            </a:pPr>
            <a:r>
              <a:rPr lang="en-US" sz="2700" b="1" dirty="0">
                <a:solidFill>
                  <a:srgbClr val="A91D36"/>
                </a:solidFill>
                <a:latin typeface="Calibri"/>
                <a:ea typeface="Calibri"/>
                <a:cs typeface="Calibri"/>
              </a:rPr>
              <a:t>Develop </a:t>
            </a:r>
            <a:r>
              <a:rPr sz="2700" b="1" dirty="0">
                <a:solidFill>
                  <a:srgbClr val="A91D36"/>
                </a:solidFill>
                <a:latin typeface="Calibri"/>
                <a:ea typeface="Calibri"/>
                <a:cs typeface="Calibri"/>
              </a:rPr>
              <a:t>a </a:t>
            </a:r>
            <a:r>
              <a:rPr lang="en-US" sz="2700" b="1" dirty="0">
                <a:solidFill>
                  <a:srgbClr val="A91D36"/>
                </a:solidFill>
                <a:latin typeface="Calibri"/>
                <a:ea typeface="Calibri"/>
                <a:cs typeface="Calibri"/>
              </a:rPr>
              <a:t>production-level </a:t>
            </a:r>
            <a:r>
              <a:rPr sz="2700" b="1" dirty="0">
                <a:solidFill>
                  <a:srgbClr val="A91D36"/>
                </a:solidFill>
                <a:latin typeface="Calibri"/>
                <a:ea typeface="Calibri"/>
                <a:cs typeface="Calibri"/>
              </a:rPr>
              <a:t>chat bot for users to query </a:t>
            </a:r>
            <a:r>
              <a:rPr lang="en-US" sz="2700" b="1" dirty="0">
                <a:solidFill>
                  <a:srgbClr val="A91D36"/>
                </a:solidFill>
                <a:latin typeface="Calibri"/>
                <a:ea typeface="Calibri"/>
                <a:cs typeface="Calibri"/>
              </a:rPr>
              <a:t>a corpus of </a:t>
            </a:r>
            <a:r>
              <a:rPr sz="2700" b="1" dirty="0">
                <a:solidFill>
                  <a:srgbClr val="A91D36"/>
                </a:solidFill>
                <a:latin typeface="Calibri"/>
                <a:ea typeface="Calibri"/>
                <a:cs typeface="Calibri"/>
              </a:rPr>
              <a:t>approximately</a:t>
            </a:r>
            <a:r>
              <a:rPr lang="en-US" sz="2700" b="1" dirty="0">
                <a:solidFill>
                  <a:srgbClr val="A91D36"/>
                </a:solidFill>
                <a:latin typeface="Calibri"/>
                <a:ea typeface="Calibri"/>
                <a:cs typeface="Calibri"/>
              </a:rPr>
              <a:t> </a:t>
            </a:r>
            <a:r>
              <a:rPr sz="2700" b="1" dirty="0">
                <a:solidFill>
                  <a:srgbClr val="A91D36"/>
                </a:solidFill>
                <a:latin typeface="Calibri"/>
                <a:ea typeface="Calibri"/>
                <a:cs typeface="Calibri"/>
              </a:rPr>
              <a:t>2,400 Wikipedia articles </a:t>
            </a:r>
            <a:r>
              <a:rPr lang="en-US" sz="2700" b="1" dirty="0">
                <a:solidFill>
                  <a:srgbClr val="A91D36"/>
                </a:solidFill>
                <a:latin typeface="Calibri"/>
                <a:ea typeface="Calibri"/>
                <a:cs typeface="Calibri"/>
              </a:rPr>
              <a:t>covering</a:t>
            </a:r>
            <a:r>
              <a:rPr sz="2700" b="1" dirty="0">
                <a:solidFill>
                  <a:srgbClr val="A91D36"/>
                </a:solidFill>
                <a:latin typeface="Calibri"/>
                <a:ea typeface="Calibri"/>
                <a:cs typeface="Calibri"/>
              </a:rPr>
              <a:t> numerous topics</a:t>
            </a:r>
          </a:p>
        </p:txBody>
      </p:sp>
      <p:sp>
        <p:nvSpPr>
          <p:cNvPr id="3" name="Rectangle 2">
            <a:extLst>
              <a:ext uri="{FF2B5EF4-FFF2-40B4-BE49-F238E27FC236}">
                <a16:creationId xmlns:a16="http://schemas.microsoft.com/office/drawing/2014/main" id="{52BBCC42-3F64-40CF-85D1-D8673DE2078C}"/>
              </a:ext>
            </a:extLst>
          </p:cNvPr>
          <p:cNvSpPr>
            <a:spLocks noGrp="1"/>
          </p:cNvSpPr>
          <p:nvPr/>
        </p:nvSpPr>
        <p:spPr>
          <a:xfrm>
            <a:off x="809625" y="4692739"/>
            <a:ext cx="10572750" cy="381000"/>
          </a:xfrm>
          <a:prstGeom prst="rect">
            <a:avLst/>
          </a:prstGeom>
          <a:noFill/>
          <a:ln w="0">
            <a:noFill/>
            <a:prstDash val="solid"/>
          </a:ln>
        </p:spPr>
        <p:txBody>
          <a:bodyPr/>
          <a:lstStyle>
            <a:defPPr algn="ctr">
              <a:defRPr sz="2100" b="1">
                <a:solidFill>
                  <a:srgbClr val="365C6B"/>
                </a:solidFill>
                <a:latin typeface="Calibri"/>
                <a:ea typeface="Calibri"/>
                <a:cs typeface="Calibri"/>
              </a:defRPr>
            </a:defPPr>
          </a:lstStyle>
          <a:p>
            <a:pPr algn="ctr">
              <a:defRPr sz="2100" b="1">
                <a:solidFill>
                  <a:srgbClr val="365C6B"/>
                </a:solidFill>
                <a:latin typeface="Calibri"/>
                <a:ea typeface="Calibri"/>
                <a:cs typeface="Calibri"/>
              </a:defRPr>
            </a:pPr>
            <a:r>
              <a:rPr sz="2100" b="1">
                <a:solidFill>
                  <a:srgbClr val="365C6B"/>
                </a:solidFill>
                <a:latin typeface="Calibri"/>
                <a:ea typeface="Calibri"/>
                <a:cs typeface="Calibri"/>
              </a:rPr>
              <a:t>Design priorities, in order</a:t>
            </a:r>
          </a:p>
        </p:txBody>
      </p:sp>
      <p:sp>
        <p:nvSpPr>
          <p:cNvPr id="4" name="Rectangle 3">
            <a:extLst>
              <a:ext uri="{FF2B5EF4-FFF2-40B4-BE49-F238E27FC236}">
                <a16:creationId xmlns:a16="http://schemas.microsoft.com/office/drawing/2014/main" id="{A14860E2-E213-4EC9-9F59-F5A0F4F1BD5B}"/>
              </a:ext>
            </a:extLst>
          </p:cNvPr>
          <p:cNvSpPr>
            <a:spLocks noGrp="1"/>
          </p:cNvSpPr>
          <p:nvPr/>
        </p:nvSpPr>
        <p:spPr>
          <a:xfrm>
            <a:off x="809625" y="5197564"/>
            <a:ext cx="10572750" cy="476250"/>
          </a:xfrm>
          <a:prstGeom prst="rect">
            <a:avLst/>
          </a:prstGeom>
          <a:noFill/>
          <a:ln w="0">
            <a:noFill/>
            <a:prstDash val="solid"/>
          </a:ln>
        </p:spPr>
        <p:txBody>
          <a:bodyPr/>
          <a:lstStyle>
            <a:defPPr algn="ctr">
              <a:defRPr sz="2550" b="1">
                <a:solidFill>
                  <a:srgbClr val="292E31"/>
                </a:solidFill>
                <a:latin typeface="Calibri"/>
                <a:ea typeface="Calibri"/>
                <a:cs typeface="Calibri"/>
              </a:defRPr>
            </a:defPPr>
          </a:lstStyle>
          <a:p>
            <a:pPr algn="ctr">
              <a:defRPr sz="2550" b="1">
                <a:solidFill>
                  <a:srgbClr val="292E31"/>
                </a:solidFill>
                <a:latin typeface="Calibri"/>
                <a:ea typeface="Calibri"/>
                <a:cs typeface="Calibri"/>
              </a:defRPr>
            </a:pPr>
            <a:r>
              <a:rPr sz="2550" b="1" dirty="0">
                <a:solidFill>
                  <a:srgbClr val="292E31"/>
                </a:solidFill>
                <a:latin typeface="Calibri"/>
                <a:ea typeface="Calibri"/>
                <a:cs typeface="Calibri"/>
              </a:rPr>
              <a:t>1. Accuracy     2. Cost     3. Latency</a:t>
            </a:r>
          </a:p>
        </p:txBody>
      </p:sp>
    </p:spTree>
    <p:extLst>
      <p:ext uri="{BB962C8B-B14F-4D97-AF65-F5344CB8AC3E}">
        <p14:creationId xmlns:p14="http://schemas.microsoft.com/office/powerpoint/2010/main" val="1635074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D4E9E35-17D0-2709-F485-8D24D1B433E3}"/>
              </a:ext>
            </a:extLst>
          </p:cNvPr>
          <p:cNvSpPr/>
          <p:nvPr/>
        </p:nvSpPr>
        <p:spPr>
          <a:xfrm>
            <a:off x="6539553" y="2721795"/>
            <a:ext cx="4508414" cy="26330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4BF88430-87FB-1F7B-0EF5-B43B2F447C9B}"/>
              </a:ext>
            </a:extLst>
          </p:cNvPr>
          <p:cNvSpPr/>
          <p:nvPr/>
        </p:nvSpPr>
        <p:spPr>
          <a:xfrm>
            <a:off x="1110303" y="2721795"/>
            <a:ext cx="4508414" cy="26330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3F3F64E-BE4D-D3DF-57D5-BF67AE1E9EDD}"/>
              </a:ext>
            </a:extLst>
          </p:cNvPr>
          <p:cNvSpPr>
            <a:spLocks noGrp="1"/>
          </p:cNvSpPr>
          <p:nvPr/>
        </p:nvSpPr>
        <p:spPr>
          <a:xfrm>
            <a:off x="714375" y="609600"/>
            <a:ext cx="10763250" cy="518160"/>
          </a:xfrm>
          <a:prstGeom prst="rect">
            <a:avLst/>
          </a:prstGeom>
          <a:noFill/>
        </p:spPr>
        <p:txBody>
          <a:bodyPr wrap="square" lIns="0" tIns="0" rIns="0" bIns="0">
            <a:noAutofit/>
          </a:bodyPr>
          <a:lstStyle>
            <a:defPPr algn="ctr">
              <a:defRPr sz="2800" b="1">
                <a:solidFill>
                  <a:srgbClr val="A31F34"/>
                </a:solidFill>
                <a:latin typeface="Calibri"/>
                <a:ea typeface="Calibri"/>
                <a:cs typeface="Calibri"/>
              </a:defRPr>
            </a:defPPr>
          </a:lstStyle>
          <a:p>
            <a:pPr algn="ctr">
              <a:buNone/>
              <a:defRPr sz="2800" b="1">
                <a:solidFill>
                  <a:srgbClr val="A31F34"/>
                </a:solidFill>
                <a:latin typeface="Calibri"/>
                <a:ea typeface="Calibri"/>
                <a:cs typeface="Calibri"/>
              </a:defRPr>
            </a:pPr>
            <a:r>
              <a:rPr sz="2800" b="1" dirty="0">
                <a:solidFill>
                  <a:srgbClr val="A31F34"/>
                </a:solidFill>
                <a:latin typeface="Calibri"/>
                <a:ea typeface="Calibri"/>
                <a:cs typeface="Calibri"/>
              </a:rPr>
              <a:t>The Problem</a:t>
            </a:r>
          </a:p>
        </p:txBody>
      </p:sp>
      <p:sp>
        <p:nvSpPr>
          <p:cNvPr id="10" name="A useful answer may require connecting facts&#10;">
            <a:extLst>
              <a:ext uri="{FF2B5EF4-FFF2-40B4-BE49-F238E27FC236}">
                <a16:creationId xmlns:a16="http://schemas.microsoft.com/office/drawing/2014/main" id="{968436BB-A499-4E13-A921-3382110A0E8F}"/>
              </a:ext>
            </a:extLst>
          </p:cNvPr>
          <p:cNvSpPr>
            <a:spLocks noGrp="1"/>
          </p:cNvSpPr>
          <p:nvPr/>
        </p:nvSpPr>
        <p:spPr>
          <a:xfrm>
            <a:off x="800100" y="1487664"/>
            <a:ext cx="10591800" cy="809625"/>
          </a:xfrm>
          <a:prstGeom prst="rect">
            <a:avLst/>
          </a:prstGeom>
          <a:noFill/>
          <a:ln w="0">
            <a:noFill/>
            <a:prstDash val="solid"/>
          </a:ln>
        </p:spPr>
        <p:txBody>
          <a:bodyPr lIns="0" tIns="0" rIns="0" bIns="0" anchor="t">
            <a:noAutofit/>
          </a:bodyPr>
          <a:lstStyle>
            <a:defPPr algn="l">
              <a:defRPr sz="2400" b="1">
                <a:solidFill>
                  <a:srgbClr val="202428"/>
                </a:solidFill>
                <a:latin typeface="Calibri"/>
                <a:ea typeface="Calibri"/>
                <a:cs typeface="Calibri"/>
              </a:defRPr>
            </a:defPPr>
          </a:lstStyle>
          <a:p>
            <a:pPr algn="l">
              <a:buNone/>
              <a:defRPr sz="2400" b="1">
                <a:solidFill>
                  <a:srgbClr val="202428"/>
                </a:solidFill>
                <a:latin typeface="Calibri"/>
                <a:ea typeface="Calibri"/>
                <a:cs typeface="Calibri"/>
              </a:defRPr>
            </a:pPr>
            <a:r>
              <a:rPr lang="en-US" sz="2400" b="1" dirty="0">
                <a:solidFill>
                  <a:srgbClr val="202428"/>
                </a:solidFill>
                <a:latin typeface="Calibri"/>
                <a:ea typeface="Calibri"/>
                <a:cs typeface="Calibri"/>
              </a:rPr>
              <a:t>Finding answers across 2,400 Wikipedia articles is time-consuming, especially when questions require connecting facts across multiple articles. </a:t>
            </a:r>
            <a:endParaRPr sz="2400" b="1" dirty="0">
              <a:solidFill>
                <a:srgbClr val="202428"/>
              </a:solidFill>
              <a:latin typeface="Calibri"/>
              <a:ea typeface="Calibri"/>
              <a:cs typeface="Calibri"/>
            </a:endParaRPr>
          </a:p>
        </p:txBody>
      </p:sp>
      <p:sp>
        <p:nvSpPr>
          <p:cNvPr id="11" name="Intended user">
            <a:extLst>
              <a:ext uri="{FF2B5EF4-FFF2-40B4-BE49-F238E27FC236}">
                <a16:creationId xmlns:a16="http://schemas.microsoft.com/office/drawing/2014/main" id="{4A784950-1EBA-4A8E-BD2B-4229E1BB8993}"/>
              </a:ext>
            </a:extLst>
          </p:cNvPr>
          <p:cNvSpPr>
            <a:spLocks noGrp="1"/>
          </p:cNvSpPr>
          <p:nvPr/>
        </p:nvSpPr>
        <p:spPr>
          <a:xfrm>
            <a:off x="1196028" y="2783064"/>
            <a:ext cx="4572000" cy="400050"/>
          </a:xfrm>
          <a:prstGeom prst="rect">
            <a:avLst/>
          </a:prstGeom>
          <a:noFill/>
          <a:ln w="0">
            <a:noFill/>
            <a:prstDash val="solid"/>
          </a:ln>
        </p:spPr>
        <p:txBody>
          <a:bodyPr lIns="0" tIns="0" rIns="0" bIns="0" anchor="t">
            <a:noAutofit/>
          </a:bodyPr>
          <a:lstStyle>
            <a:defPPr algn="l">
              <a:defRPr sz="2025" b="1">
                <a:solidFill>
                  <a:srgbClr val="365C6A"/>
                </a:solidFill>
                <a:latin typeface="Calibri"/>
                <a:ea typeface="Calibri"/>
                <a:cs typeface="Calibri"/>
              </a:defRPr>
            </a:defPPr>
          </a:lstStyle>
          <a:p>
            <a:pPr algn="l">
              <a:buNone/>
              <a:defRPr sz="2025" b="1">
                <a:solidFill>
                  <a:srgbClr val="365C6A"/>
                </a:solidFill>
                <a:latin typeface="Calibri"/>
                <a:ea typeface="Calibri"/>
                <a:cs typeface="Calibri"/>
              </a:defRPr>
            </a:pPr>
            <a:r>
              <a:rPr sz="2025" b="1">
                <a:solidFill>
                  <a:srgbClr val="365C6A"/>
                </a:solidFill>
                <a:latin typeface="Calibri"/>
                <a:ea typeface="Calibri"/>
                <a:cs typeface="Calibri"/>
              </a:rPr>
              <a:t>Intended user</a:t>
            </a:r>
          </a:p>
        </p:txBody>
      </p:sp>
      <p:sp>
        <p:nvSpPr>
          <p:cNvPr id="12" name="Someone exploring the local collection&#10;withou">
            <a:extLst>
              <a:ext uri="{FF2B5EF4-FFF2-40B4-BE49-F238E27FC236}">
                <a16:creationId xmlns:a16="http://schemas.microsoft.com/office/drawing/2014/main" id="{E36688AC-ED3A-4BBE-9905-8EFF618C9281}"/>
              </a:ext>
            </a:extLst>
          </p:cNvPr>
          <p:cNvSpPr>
            <a:spLocks noGrp="1"/>
          </p:cNvSpPr>
          <p:nvPr/>
        </p:nvSpPr>
        <p:spPr>
          <a:xfrm>
            <a:off x="1196028" y="3306939"/>
            <a:ext cx="4762500" cy="1047750"/>
          </a:xfrm>
          <a:prstGeom prst="rect">
            <a:avLst/>
          </a:prstGeom>
          <a:noFill/>
          <a:ln w="0">
            <a:noFill/>
            <a:prstDash val="solid"/>
          </a:ln>
        </p:spPr>
        <p:txBody>
          <a:bodyPr lIns="0" tIns="0" rIns="0" bIns="0" anchor="t">
            <a:noAutofit/>
          </a:bodyPr>
          <a:lstStyle>
            <a:defPPr algn="l">
              <a:defRPr sz="2000" b="0">
                <a:solidFill>
                  <a:srgbClr val="202428"/>
                </a:solidFill>
                <a:latin typeface="Calibri"/>
                <a:ea typeface="Calibri"/>
                <a:cs typeface="Calibri"/>
              </a:defRPr>
            </a:defPPr>
          </a:lstStyle>
          <a:p>
            <a:pPr algn="l">
              <a:buNone/>
              <a:defRPr sz="2000" b="0">
                <a:solidFill>
                  <a:srgbClr val="202428"/>
                </a:solidFill>
                <a:latin typeface="Calibri"/>
                <a:ea typeface="Calibri"/>
                <a:cs typeface="Calibri"/>
              </a:defRPr>
            </a:pPr>
            <a:r>
              <a:rPr sz="2000" b="0">
                <a:solidFill>
                  <a:srgbClr val="202428"/>
                </a:solidFill>
                <a:latin typeface="Calibri"/>
                <a:ea typeface="Calibri"/>
                <a:cs typeface="Calibri"/>
              </a:rPr>
              <a:t>Someone exploring the local collection</a:t>
            </a:r>
          </a:p>
          <a:p>
            <a:pPr algn="l">
              <a:buNone/>
              <a:defRPr sz="2000" b="0">
                <a:solidFill>
                  <a:srgbClr val="202428"/>
                </a:solidFill>
                <a:latin typeface="Calibri"/>
                <a:ea typeface="Calibri"/>
                <a:cs typeface="Calibri"/>
              </a:defRPr>
            </a:pPr>
            <a:r>
              <a:rPr sz="2000" b="0">
                <a:solidFill>
                  <a:srgbClr val="202428"/>
                </a:solidFill>
                <a:latin typeface="Calibri"/>
                <a:ea typeface="Calibri"/>
                <a:cs typeface="Calibri"/>
              </a:rPr>
              <a:t>without manually reading every article.</a:t>
            </a:r>
          </a:p>
        </p:txBody>
      </p:sp>
      <p:sp>
        <p:nvSpPr>
          <p:cNvPr id="13" name="Example questions">
            <a:extLst>
              <a:ext uri="{FF2B5EF4-FFF2-40B4-BE49-F238E27FC236}">
                <a16:creationId xmlns:a16="http://schemas.microsoft.com/office/drawing/2014/main" id="{6B159F3D-9268-4C37-8D45-543C14615784}"/>
              </a:ext>
            </a:extLst>
          </p:cNvPr>
          <p:cNvSpPr>
            <a:spLocks noGrp="1"/>
          </p:cNvSpPr>
          <p:nvPr/>
        </p:nvSpPr>
        <p:spPr>
          <a:xfrm>
            <a:off x="6645209" y="2783064"/>
            <a:ext cx="4953000" cy="400050"/>
          </a:xfrm>
          <a:prstGeom prst="rect">
            <a:avLst/>
          </a:prstGeom>
          <a:noFill/>
          <a:ln w="0">
            <a:noFill/>
            <a:prstDash val="solid"/>
          </a:ln>
        </p:spPr>
        <p:txBody>
          <a:bodyPr lIns="0" tIns="0" rIns="0" bIns="0" anchor="t">
            <a:noAutofit/>
          </a:bodyPr>
          <a:lstStyle>
            <a:defPPr algn="l">
              <a:defRPr sz="2025" b="1">
                <a:solidFill>
                  <a:srgbClr val="365C6A"/>
                </a:solidFill>
                <a:latin typeface="Calibri"/>
                <a:ea typeface="Calibri"/>
                <a:cs typeface="Calibri"/>
              </a:defRPr>
            </a:defPPr>
          </a:lstStyle>
          <a:p>
            <a:pPr algn="l">
              <a:buNone/>
              <a:defRPr sz="2025" b="1">
                <a:solidFill>
                  <a:srgbClr val="365C6A"/>
                </a:solidFill>
                <a:latin typeface="Calibri"/>
                <a:ea typeface="Calibri"/>
                <a:cs typeface="Calibri"/>
              </a:defRPr>
            </a:pPr>
            <a:r>
              <a:rPr sz="2025" b="1" dirty="0">
                <a:solidFill>
                  <a:srgbClr val="365C6A"/>
                </a:solidFill>
                <a:latin typeface="Calibri"/>
                <a:ea typeface="Calibri"/>
                <a:cs typeface="Calibri"/>
              </a:rPr>
              <a:t>Example questions</a:t>
            </a:r>
          </a:p>
        </p:txBody>
      </p:sp>
      <p:sp>
        <p:nvSpPr>
          <p:cNvPr id="14" name="“Who played Phoebe in Friends?”&#10;&#10;“When was sh">
            <a:extLst>
              <a:ext uri="{FF2B5EF4-FFF2-40B4-BE49-F238E27FC236}">
                <a16:creationId xmlns:a16="http://schemas.microsoft.com/office/drawing/2014/main" id="{8936BBBA-8E94-4704-9545-608336412D46}"/>
              </a:ext>
            </a:extLst>
          </p:cNvPr>
          <p:cNvSpPr>
            <a:spLocks noGrp="1"/>
          </p:cNvSpPr>
          <p:nvPr/>
        </p:nvSpPr>
        <p:spPr>
          <a:xfrm>
            <a:off x="6645209" y="3306939"/>
            <a:ext cx="5000625" cy="2047875"/>
          </a:xfrm>
          <a:prstGeom prst="rect">
            <a:avLst/>
          </a:prstGeom>
          <a:noFill/>
          <a:ln w="0">
            <a:noFill/>
            <a:prstDash val="solid"/>
          </a:ln>
        </p:spPr>
        <p:txBody>
          <a:bodyPr lIns="0" tIns="0" rIns="0" bIns="0" anchor="t">
            <a:noAutofit/>
          </a:bodyPr>
          <a:lstStyle>
            <a:defPPr algn="l">
              <a:defRPr sz="2000" b="0">
                <a:solidFill>
                  <a:srgbClr val="202428"/>
                </a:solidFill>
                <a:latin typeface="Calibri"/>
                <a:ea typeface="Calibri"/>
                <a:cs typeface="Calibri"/>
              </a:defRPr>
            </a:defPPr>
          </a:lstStyle>
          <a:p>
            <a:pPr algn="l">
              <a:buNone/>
              <a:defRPr sz="2000" b="0">
                <a:solidFill>
                  <a:srgbClr val="202428"/>
                </a:solidFill>
                <a:latin typeface="Calibri"/>
                <a:ea typeface="Calibri"/>
                <a:cs typeface="Calibri"/>
              </a:defRPr>
            </a:pPr>
            <a:r>
              <a:rPr sz="2000" b="0" dirty="0">
                <a:solidFill>
                  <a:srgbClr val="202428"/>
                </a:solidFill>
                <a:latin typeface="Calibri"/>
                <a:ea typeface="Calibri"/>
                <a:cs typeface="Calibri"/>
              </a:rPr>
              <a:t>“Who played Phoebe in Friends?”</a:t>
            </a:r>
          </a:p>
          <a:p>
            <a:endParaRPr sz="2000" b="0" dirty="0">
              <a:solidFill>
                <a:srgbClr val="202428"/>
              </a:solidFill>
              <a:latin typeface="Calibri"/>
              <a:ea typeface="Calibri"/>
              <a:cs typeface="Calibri"/>
            </a:endParaRPr>
          </a:p>
          <a:p>
            <a:pPr algn="l">
              <a:buNone/>
              <a:defRPr sz="2000" b="0">
                <a:solidFill>
                  <a:srgbClr val="202428"/>
                </a:solidFill>
                <a:latin typeface="Calibri"/>
                <a:ea typeface="Calibri"/>
                <a:cs typeface="Calibri"/>
              </a:defRPr>
            </a:pPr>
            <a:r>
              <a:rPr sz="2000" b="0" dirty="0">
                <a:solidFill>
                  <a:srgbClr val="202428"/>
                </a:solidFill>
                <a:latin typeface="Calibri"/>
                <a:ea typeface="Calibri"/>
                <a:cs typeface="Calibri"/>
              </a:rPr>
              <a:t>“When was she born?”</a:t>
            </a:r>
          </a:p>
          <a:p>
            <a:endParaRPr sz="2000" b="0" dirty="0">
              <a:solidFill>
                <a:srgbClr val="202428"/>
              </a:solidFill>
              <a:latin typeface="Calibri"/>
              <a:ea typeface="Calibri"/>
              <a:cs typeface="Calibri"/>
            </a:endParaRPr>
          </a:p>
          <a:p>
            <a:pPr algn="l">
              <a:buNone/>
              <a:defRPr sz="2000" b="0">
                <a:solidFill>
                  <a:srgbClr val="202428"/>
                </a:solidFill>
                <a:latin typeface="Calibri"/>
                <a:ea typeface="Calibri"/>
                <a:cs typeface="Calibri"/>
              </a:defRPr>
            </a:pPr>
            <a:r>
              <a:rPr sz="2000" b="0" dirty="0">
                <a:solidFill>
                  <a:srgbClr val="202428"/>
                </a:solidFill>
                <a:latin typeface="Calibri"/>
                <a:ea typeface="Calibri"/>
                <a:cs typeface="Calibri"/>
              </a:rPr>
              <a:t>“Which series costarred </a:t>
            </a:r>
            <a:r>
              <a:rPr lang="en-US" sz="2000" b="0" dirty="0">
                <a:solidFill>
                  <a:srgbClr val="202428"/>
                </a:solidFill>
                <a:latin typeface="Calibri"/>
                <a:ea typeface="Calibri"/>
                <a:cs typeface="Calibri"/>
              </a:rPr>
              <a:t>Lisa Kudrow and Jennifer Aniston</a:t>
            </a:r>
            <a:r>
              <a:rPr sz="2000" b="0" dirty="0">
                <a:solidFill>
                  <a:srgbClr val="202428"/>
                </a:solidFill>
                <a:latin typeface="Calibri"/>
                <a:ea typeface="Calibri"/>
                <a:cs typeface="Calibri"/>
              </a:rPr>
              <a:t>?”</a:t>
            </a:r>
          </a:p>
        </p:txBody>
      </p:sp>
      <p:sp>
        <p:nvSpPr>
          <p:cNvPr id="15" name="Success means a relevant, supported answer, o">
            <a:extLst>
              <a:ext uri="{FF2B5EF4-FFF2-40B4-BE49-F238E27FC236}">
                <a16:creationId xmlns:a16="http://schemas.microsoft.com/office/drawing/2014/main" id="{EBC0E533-B7FC-4AAD-B2F7-BF90D9FD020F}"/>
              </a:ext>
            </a:extLst>
          </p:cNvPr>
          <p:cNvSpPr>
            <a:spLocks noGrp="1"/>
          </p:cNvSpPr>
          <p:nvPr/>
        </p:nvSpPr>
        <p:spPr>
          <a:xfrm>
            <a:off x="742950" y="5797010"/>
            <a:ext cx="10591800" cy="533400"/>
          </a:xfrm>
          <a:prstGeom prst="rect">
            <a:avLst/>
          </a:prstGeom>
          <a:noFill/>
          <a:ln w="0">
            <a:noFill/>
            <a:prstDash val="solid"/>
          </a:ln>
        </p:spPr>
        <p:txBody>
          <a:bodyPr lIns="0" tIns="0" rIns="0" bIns="0" anchor="t">
            <a:noAutofit/>
          </a:bodyPr>
          <a:lstStyle>
            <a:defPPr algn="l">
              <a:defRPr sz="1575" b="0">
                <a:solidFill>
                  <a:srgbClr val="596269"/>
                </a:solidFill>
                <a:latin typeface="Calibri"/>
                <a:ea typeface="Calibri"/>
                <a:cs typeface="Calibri"/>
              </a:defRPr>
            </a:defPPr>
          </a:lstStyle>
          <a:p>
            <a:pPr algn="ctr">
              <a:buNone/>
              <a:defRPr sz="1575" b="0">
                <a:solidFill>
                  <a:srgbClr val="596269"/>
                </a:solidFill>
                <a:latin typeface="Calibri"/>
                <a:ea typeface="Calibri"/>
                <a:cs typeface="Calibri"/>
              </a:defRPr>
            </a:pPr>
            <a:r>
              <a:rPr lang="en-US" sz="1800" b="0" u="sng" dirty="0">
                <a:solidFill>
                  <a:srgbClr val="596269"/>
                </a:solidFill>
                <a:latin typeface="Calibri"/>
                <a:ea typeface="Calibri"/>
                <a:cs typeface="Calibri"/>
              </a:rPr>
              <a:t>Why is this important?</a:t>
            </a:r>
            <a:r>
              <a:rPr lang="en-US" sz="1800" b="0" dirty="0">
                <a:solidFill>
                  <a:srgbClr val="596269"/>
                </a:solidFill>
                <a:latin typeface="Calibri"/>
                <a:ea typeface="Calibri"/>
                <a:cs typeface="Calibri"/>
              </a:rPr>
              <a:t>  Getting a</a:t>
            </a:r>
            <a:r>
              <a:rPr sz="1800" b="0" dirty="0">
                <a:solidFill>
                  <a:srgbClr val="596269"/>
                </a:solidFill>
                <a:latin typeface="Calibri"/>
                <a:ea typeface="Calibri"/>
                <a:cs typeface="Calibri"/>
              </a:rPr>
              <a:t> relevant, supported answer</a:t>
            </a:r>
            <a:r>
              <a:rPr lang="en-US" sz="1800" b="0" dirty="0">
                <a:solidFill>
                  <a:srgbClr val="596269"/>
                </a:solidFill>
                <a:latin typeface="Calibri"/>
                <a:ea typeface="Calibri"/>
                <a:cs typeface="Calibri"/>
              </a:rPr>
              <a:t> -</a:t>
            </a:r>
            <a:r>
              <a:rPr sz="1800" b="0" dirty="0">
                <a:solidFill>
                  <a:srgbClr val="596269"/>
                </a:solidFill>
                <a:latin typeface="Calibri"/>
                <a:ea typeface="Calibri"/>
                <a:cs typeface="Calibri"/>
              </a:rPr>
              <a:t> or a clear statement of missing evidence</a:t>
            </a:r>
            <a:r>
              <a:rPr lang="en-US" sz="1800" b="0" dirty="0">
                <a:solidFill>
                  <a:srgbClr val="596269"/>
                </a:solidFill>
                <a:latin typeface="Calibri"/>
                <a:ea typeface="Calibri"/>
                <a:cs typeface="Calibri"/>
              </a:rPr>
              <a:t> - in a short period of time </a:t>
            </a:r>
            <a:r>
              <a:rPr lang="en-US" sz="1800" dirty="0">
                <a:solidFill>
                  <a:srgbClr val="596269"/>
                </a:solidFill>
                <a:latin typeface="Calibri"/>
                <a:ea typeface="Calibri"/>
                <a:cs typeface="Calibri"/>
              </a:rPr>
              <a:t>improves human productivity</a:t>
            </a:r>
            <a:r>
              <a:rPr sz="1800" b="0" dirty="0">
                <a:solidFill>
                  <a:srgbClr val="596269"/>
                </a:solidFill>
                <a:latin typeface="Calibri"/>
                <a:ea typeface="Calibri"/>
                <a:cs typeface="Calibri"/>
              </a:rPr>
              <a:t>.</a:t>
            </a:r>
          </a:p>
        </p:txBody>
      </p:sp>
    </p:spTree>
    <p:extLst>
      <p:ext uri="{BB962C8B-B14F-4D97-AF65-F5344CB8AC3E}">
        <p14:creationId xmlns:p14="http://schemas.microsoft.com/office/powerpoint/2010/main" val="1725571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9F7EE-07E4-28DD-38FC-B228E5B4E03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867749F-643D-256A-0A99-A9974C432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110" y="127948"/>
            <a:ext cx="11431779" cy="6433794"/>
          </a:xfrm>
          <a:prstGeom prst="rect">
            <a:avLst/>
          </a:prstGeom>
        </p:spPr>
      </p:pic>
      <p:sp>
        <p:nvSpPr>
          <p:cNvPr id="4" name="Rectangle 3">
            <a:extLst>
              <a:ext uri="{FF2B5EF4-FFF2-40B4-BE49-F238E27FC236}">
                <a16:creationId xmlns:a16="http://schemas.microsoft.com/office/drawing/2014/main" id="{6CCDB92F-23F0-9942-B0AD-CEB466578916}"/>
              </a:ext>
            </a:extLst>
          </p:cNvPr>
          <p:cNvSpPr>
            <a:spLocks noGrp="1"/>
          </p:cNvSpPr>
          <p:nvPr/>
        </p:nvSpPr>
        <p:spPr>
          <a:xfrm>
            <a:off x="714375" y="239696"/>
            <a:ext cx="10763250" cy="976362"/>
          </a:xfrm>
          <a:prstGeom prst="rect">
            <a:avLst/>
          </a:prstGeom>
          <a:solidFill>
            <a:schemeClr val="lt1"/>
          </a:solidFill>
          <a:ln w="0">
            <a:noFill/>
            <a:prstDash val="solid"/>
          </a:ln>
        </p:spPr>
        <p:txBody>
          <a:bodyPr anchor="ctr" anchorCtr="0"/>
          <a:lstStyle>
            <a:defPPr algn="ctr">
              <a:defRPr sz="2700" b="1">
                <a:solidFill>
                  <a:srgbClr val="A91D36"/>
                </a:solidFill>
                <a:latin typeface="Calibri"/>
                <a:ea typeface="Calibri"/>
                <a:cs typeface="Calibri"/>
              </a:defRPr>
            </a:defPPr>
          </a:lstStyle>
          <a:p>
            <a:pPr algn="ctr">
              <a:buNone/>
              <a:defRPr sz="2700" b="1">
                <a:solidFill>
                  <a:srgbClr val="A91D36"/>
                </a:solidFill>
                <a:latin typeface="Calibri"/>
                <a:ea typeface="Calibri"/>
                <a:cs typeface="Calibri"/>
              </a:defRPr>
            </a:pPr>
            <a:r>
              <a:rPr lang="en-US" sz="2700" b="1" dirty="0">
                <a:solidFill>
                  <a:srgbClr val="A91D36"/>
                </a:solidFill>
                <a:latin typeface="Calibri"/>
                <a:ea typeface="Calibri"/>
                <a:cs typeface="Calibri"/>
              </a:rPr>
              <a:t>The Solution (high level)</a:t>
            </a:r>
            <a:endParaRPr sz="2700" b="1" dirty="0">
              <a:solidFill>
                <a:srgbClr val="A91D36"/>
              </a:solidFill>
              <a:latin typeface="Calibri"/>
              <a:ea typeface="Calibri"/>
              <a:cs typeface="Calibri"/>
            </a:endParaRPr>
          </a:p>
        </p:txBody>
      </p:sp>
      <p:sp>
        <p:nvSpPr>
          <p:cNvPr id="7" name="TextBox 6">
            <a:extLst>
              <a:ext uri="{FF2B5EF4-FFF2-40B4-BE49-F238E27FC236}">
                <a16:creationId xmlns:a16="http://schemas.microsoft.com/office/drawing/2014/main" id="{3C0DEE89-E173-0762-2139-9CE17251009D}"/>
              </a:ext>
            </a:extLst>
          </p:cNvPr>
          <p:cNvSpPr txBox="1"/>
          <p:nvPr/>
        </p:nvSpPr>
        <p:spPr>
          <a:xfrm>
            <a:off x="945395" y="5445381"/>
            <a:ext cx="1583703" cy="307777"/>
          </a:xfrm>
          <a:prstGeom prst="rect">
            <a:avLst/>
          </a:prstGeom>
          <a:noFill/>
        </p:spPr>
        <p:txBody>
          <a:bodyPr wrap="square" rtlCol="0">
            <a:spAutoFit/>
          </a:bodyPr>
          <a:lstStyle/>
          <a:p>
            <a:pPr algn="ctr"/>
            <a:r>
              <a:rPr lang="en-US" dirty="0"/>
              <a:t>Decomposition</a:t>
            </a:r>
          </a:p>
        </p:txBody>
      </p:sp>
    </p:spTree>
    <p:extLst>
      <p:ext uri="{BB962C8B-B14F-4D97-AF65-F5344CB8AC3E}">
        <p14:creationId xmlns:p14="http://schemas.microsoft.com/office/powerpoint/2010/main" val="53523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F78861-3D0A-4933-9AA8-D8CF0F81A80F}"/>
              </a:ext>
            </a:extLst>
          </p:cNvPr>
          <p:cNvSpPr>
            <a:spLocks noGrp="1"/>
          </p:cNvSpPr>
          <p:nvPr/>
        </p:nvSpPr>
        <p:spPr>
          <a:xfrm>
            <a:off x="714375" y="609600"/>
            <a:ext cx="10763250" cy="523875"/>
          </a:xfrm>
          <a:prstGeom prst="rect">
            <a:avLst/>
          </a:prstGeom>
          <a:noFill/>
          <a:ln w="0">
            <a:noFill/>
            <a:prstDash val="solid"/>
          </a:ln>
        </p:spPr>
        <p:txBody>
          <a:bodyPr/>
          <a:lstStyle>
            <a:defPPr algn="ctr">
              <a:defRPr sz="2700" b="1">
                <a:solidFill>
                  <a:srgbClr val="A91D36"/>
                </a:solidFill>
                <a:latin typeface="Calibri"/>
                <a:ea typeface="Calibri"/>
                <a:cs typeface="Calibri"/>
              </a:defRPr>
            </a:defPPr>
          </a:lstStyle>
          <a:p>
            <a:pPr algn="ctr">
              <a:buNone/>
              <a:defRPr sz="2700" b="1">
                <a:solidFill>
                  <a:srgbClr val="A91D36"/>
                </a:solidFill>
                <a:latin typeface="Calibri"/>
                <a:ea typeface="Calibri"/>
                <a:cs typeface="Calibri"/>
              </a:defRPr>
            </a:pPr>
            <a:r>
              <a:rPr lang="en-US" sz="2700" b="1" dirty="0">
                <a:solidFill>
                  <a:srgbClr val="A91D36"/>
                </a:solidFill>
                <a:latin typeface="Calibri"/>
                <a:ea typeface="Calibri"/>
                <a:cs typeface="Calibri"/>
              </a:rPr>
              <a:t>Solution Evolution (Checkpoint 8.1)</a:t>
            </a:r>
            <a:endParaRPr sz="2700" b="1" dirty="0">
              <a:solidFill>
                <a:srgbClr val="A91D36"/>
              </a:solidFill>
              <a:latin typeface="Calibri"/>
              <a:ea typeface="Calibri"/>
              <a:cs typeface="Calibri"/>
            </a:endParaRPr>
          </a:p>
        </p:txBody>
      </p:sp>
      <p:graphicFrame>
        <p:nvGraphicFramePr>
          <p:cNvPr id="2" name="Table 1">
            <a:extLst>
              <a:ext uri="{FF2B5EF4-FFF2-40B4-BE49-F238E27FC236}">
                <a16:creationId xmlns:a16="http://schemas.microsoft.com/office/drawing/2014/main" id="{73527F81-5AE7-4EFF-86EE-62DA1CFE98D0}"/>
              </a:ext>
            </a:extLst>
          </p:cNvPr>
          <p:cNvGraphicFramePr/>
          <p:nvPr>
            <p:extLst>
              <p:ext uri="{D42A27DB-BD31-4B8C-83A1-F6EECF244321}">
                <p14:modId xmlns:p14="http://schemas.microsoft.com/office/powerpoint/2010/main" val="19972841"/>
              </p:ext>
            </p:extLst>
          </p:nvPr>
        </p:nvGraphicFramePr>
        <p:xfrm>
          <a:off x="800100" y="1847850"/>
          <a:ext cx="10591800" cy="4095750"/>
        </p:xfrm>
        <a:graphic>
          <a:graphicData uri="http://schemas.openxmlformats.org/drawingml/2006/table">
            <a:tbl>
              <a:tblPr/>
              <a:tblGrid>
                <a:gridCol w="1396345">
                  <a:extLst>
                    <a:ext uri="{9D8B030D-6E8A-4147-A177-3AD203B41FA5}">
                      <a16:colId xmlns:a16="http://schemas.microsoft.com/office/drawing/2014/main" val="20000"/>
                    </a:ext>
                  </a:extLst>
                </a:gridCol>
                <a:gridCol w="4703976">
                  <a:extLst>
                    <a:ext uri="{9D8B030D-6E8A-4147-A177-3AD203B41FA5}">
                      <a16:colId xmlns:a16="http://schemas.microsoft.com/office/drawing/2014/main" val="20001"/>
                    </a:ext>
                  </a:extLst>
                </a:gridCol>
                <a:gridCol w="4491479">
                  <a:extLst>
                    <a:ext uri="{9D8B030D-6E8A-4147-A177-3AD203B41FA5}">
                      <a16:colId xmlns:a16="http://schemas.microsoft.com/office/drawing/2014/main" val="20002"/>
                    </a:ext>
                  </a:extLst>
                </a:gridCol>
              </a:tblGrid>
              <a:tr h="819150">
                <a:tc>
                  <a:txBody>
                    <a:bodyPr/>
                    <a:lstStyle/>
                    <a:p>
                      <a:pPr algn="ctr"/>
                      <a:r>
                        <a:rPr sz="1800" b="1" dirty="0">
                          <a:solidFill>
                            <a:srgbClr val="FFFFFF"/>
                          </a:solidFill>
                          <a:latin typeface="Calibri"/>
                          <a:ea typeface="Calibri"/>
                          <a:cs typeface="Calibri"/>
                        </a:rPr>
                        <a:t>Ver</a:t>
                      </a:r>
                      <a:r>
                        <a:rPr lang="en-US" sz="1800" b="1" dirty="0">
                          <a:solidFill>
                            <a:srgbClr val="FFFFFF"/>
                          </a:solidFill>
                          <a:latin typeface="Calibri"/>
                          <a:ea typeface="Calibri"/>
                          <a:cs typeface="Calibri"/>
                        </a:rPr>
                        <a:t>sion</a:t>
                      </a:r>
                      <a:endParaRPr sz="1800" b="1" dirty="0">
                        <a:solidFill>
                          <a:srgbClr val="FFFFFF"/>
                        </a:solidFill>
                        <a:latin typeface="Calibri"/>
                        <a:ea typeface="Calibri"/>
                        <a:cs typeface="Calibri"/>
                      </a:endParaRPr>
                    </a:p>
                  </a:txBody>
                  <a:tcPr anchor="ctr">
                    <a:lnL w="9525">
                      <a:solidFill>
                        <a:srgbClr val="E0E5E8"/>
                      </a:solidFill>
                      <a:prstDash val="soli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tc>
                  <a:txBody>
                    <a:bodyPr/>
                    <a:lstStyle/>
                    <a:p>
                      <a:pPr algn="l"/>
                      <a:r>
                        <a:rPr sz="1800" b="1" dirty="0">
                          <a:solidFill>
                            <a:srgbClr val="FFFFFF"/>
                          </a:solidFill>
                          <a:latin typeface="Calibri"/>
                          <a:ea typeface="Calibri"/>
                          <a:cs typeface="Calibri"/>
                        </a:rPr>
                        <a:t>What changed</a:t>
                      </a:r>
                    </a:p>
                  </a:txBody>
                  <a:tcPr anchor="ctr">
                    <a:lnL w="9525" cap="flat" cmpd="sng" algn="ctr">
                      <a:solidFill>
                        <a:srgbClr val="E0E5E8"/>
                      </a:solidFill>
                      <a:prstDash val="solid"/>
                      <a:round/>
                      <a:headEnd type="none" w="med" len="med"/>
                      <a:tailEnd type="none" w="med" len="me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tc>
                  <a:txBody>
                    <a:bodyPr/>
                    <a:lstStyle/>
                    <a:p>
                      <a:r>
                        <a:rPr sz="1800" b="1" dirty="0">
                          <a:solidFill>
                            <a:srgbClr val="FFFFFF"/>
                          </a:solidFill>
                          <a:latin typeface="Calibri"/>
                          <a:ea typeface="Calibri"/>
                          <a:cs typeface="Calibri"/>
                        </a:rPr>
                        <a:t>Why it helps</a:t>
                      </a:r>
                    </a:p>
                  </a:txBody>
                  <a:tcPr anchor="ctr">
                    <a:lnL w="9525" cap="flat" cmpd="sng" algn="ctr">
                      <a:solidFill>
                        <a:srgbClr val="E0E5E8"/>
                      </a:solidFill>
                      <a:prstDash val="solid"/>
                      <a:round/>
                      <a:headEnd type="none" w="med" len="med"/>
                      <a:tailEnd type="none" w="med" len="me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extLst>
                  <a:ext uri="{0D108BD9-81ED-4DB2-BD59-A6C34878D82A}">
                    <a16:rowId xmlns:a16="http://schemas.microsoft.com/office/drawing/2014/main" val="10000"/>
                  </a:ext>
                </a:extLst>
              </a:tr>
              <a:tr h="819150">
                <a:tc>
                  <a:txBody>
                    <a:bodyPr/>
                    <a:lstStyle/>
                    <a:p>
                      <a:pPr algn="ctr"/>
                      <a:r>
                        <a:rPr sz="1800" b="0">
                          <a:solidFill>
                            <a:srgbClr val="292E31"/>
                          </a:solidFill>
                          <a:latin typeface="Calibri"/>
                          <a:ea typeface="Calibri"/>
                          <a:cs typeface="Calibri"/>
                        </a:rPr>
                        <a:t>V1</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dirty="0">
                          <a:solidFill>
                            <a:srgbClr val="292E31"/>
                          </a:solidFill>
                          <a:latin typeface="Calibri"/>
                          <a:ea typeface="Calibri"/>
                          <a:cs typeface="Calibri"/>
                        </a:rPr>
                        <a:t>Search articles and answer</a:t>
                      </a:r>
                    </a:p>
                    <a:p>
                      <a:r>
                        <a:rPr sz="1800" b="0" dirty="0">
                          <a:solidFill>
                            <a:srgbClr val="292E31"/>
                          </a:solidFill>
                          <a:latin typeface="Calibri"/>
                          <a:ea typeface="Calibri"/>
                          <a:cs typeface="Calibri"/>
                        </a:rPr>
                        <a:t>with checked citations</a:t>
                      </a:r>
                      <a:r>
                        <a:rPr lang="en-US" sz="1800" b="0" dirty="0">
                          <a:solidFill>
                            <a:srgbClr val="292E31"/>
                          </a:solidFill>
                          <a:latin typeface="Calibri"/>
                          <a:ea typeface="Calibri"/>
                          <a:cs typeface="Calibri"/>
                        </a:rPr>
                        <a:t> (basically 7.2)</a:t>
                      </a:r>
                      <a:endParaRPr sz="1800" b="0" dirty="0">
                        <a:solidFill>
                          <a:srgbClr val="292E31"/>
                        </a:solidFill>
                        <a:latin typeface="Calibri"/>
                        <a:ea typeface="Calibri"/>
                        <a:cs typeface="Calibri"/>
                      </a:endParaRP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dirty="0">
                          <a:solidFill>
                            <a:srgbClr val="292E31"/>
                          </a:solidFill>
                          <a:latin typeface="Calibri"/>
                          <a:ea typeface="Calibri"/>
                          <a:cs typeface="Calibri"/>
                        </a:rPr>
                        <a:t>Build the basic chatbot</a:t>
                      </a:r>
                    </a:p>
                    <a:p>
                      <a:r>
                        <a:rPr sz="1800" b="0" dirty="0">
                          <a:solidFill>
                            <a:srgbClr val="292E31"/>
                          </a:solidFill>
                          <a:latin typeface="Calibri"/>
                          <a:ea typeface="Calibri"/>
                          <a:cs typeface="Calibri"/>
                        </a:rPr>
                        <a:t>with links to evidence</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1"/>
                  </a:ext>
                </a:extLst>
              </a:tr>
              <a:tr h="819150">
                <a:tc>
                  <a:txBody>
                    <a:bodyPr/>
                    <a:lstStyle/>
                    <a:p>
                      <a:pPr algn="ctr"/>
                      <a:r>
                        <a:rPr sz="1800" b="0">
                          <a:solidFill>
                            <a:srgbClr val="292E31"/>
                          </a:solidFill>
                          <a:latin typeface="Calibri"/>
                          <a:ea typeface="Calibri"/>
                          <a:cs typeface="Calibri"/>
                        </a:rPr>
                        <a:t>V2</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Track context and needed facts;</a:t>
                      </a:r>
                    </a:p>
                    <a:p>
                      <a:r>
                        <a:rPr sz="1800" b="0">
                          <a:solidFill>
                            <a:srgbClr val="292E31"/>
                          </a:solidFill>
                          <a:latin typeface="Calibri"/>
                          <a:ea typeface="Calibri"/>
                          <a:cs typeface="Calibri"/>
                        </a:rPr>
                        <a:t>add checks of answer support</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Check whether the evidence</a:t>
                      </a:r>
                    </a:p>
                    <a:p>
                      <a:r>
                        <a:rPr sz="1800" b="0">
                          <a:solidFill>
                            <a:srgbClr val="292E31"/>
                          </a:solidFill>
                          <a:latin typeface="Calibri"/>
                          <a:ea typeface="Calibri"/>
                          <a:cs typeface="Calibri"/>
                        </a:rPr>
                        <a:t>really supports the answer</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2"/>
                  </a:ext>
                </a:extLst>
              </a:tr>
              <a:tr h="819150">
                <a:tc>
                  <a:txBody>
                    <a:bodyPr/>
                    <a:lstStyle/>
                    <a:p>
                      <a:pPr algn="ctr"/>
                      <a:r>
                        <a:rPr sz="1800" b="0">
                          <a:solidFill>
                            <a:srgbClr val="292E31"/>
                          </a:solidFill>
                          <a:latin typeface="Calibri"/>
                          <a:ea typeface="Calibri"/>
                          <a:cs typeface="Calibri"/>
                        </a:rPr>
                        <a:t>V3</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dirty="0">
                          <a:solidFill>
                            <a:srgbClr val="292E31"/>
                          </a:solidFill>
                          <a:latin typeface="Calibri"/>
                          <a:ea typeface="Calibri"/>
                          <a:cs typeface="Calibri"/>
                        </a:rPr>
                        <a:t>Improve</a:t>
                      </a:r>
                      <a:r>
                        <a:rPr lang="en-US" sz="1800" b="0" dirty="0">
                          <a:solidFill>
                            <a:srgbClr val="292E31"/>
                          </a:solidFill>
                          <a:latin typeface="Calibri"/>
                          <a:ea typeface="Calibri"/>
                          <a:cs typeface="Calibri"/>
                        </a:rPr>
                        <a:t>d</a:t>
                      </a:r>
                      <a:r>
                        <a:rPr sz="1800" b="0" dirty="0">
                          <a:solidFill>
                            <a:srgbClr val="292E31"/>
                          </a:solidFill>
                          <a:latin typeface="Calibri"/>
                          <a:ea typeface="Calibri"/>
                          <a:cs typeface="Calibri"/>
                        </a:rPr>
                        <a:t> </a:t>
                      </a:r>
                      <a:r>
                        <a:rPr lang="en-US" sz="1800" b="0" dirty="0">
                          <a:solidFill>
                            <a:srgbClr val="292E31"/>
                          </a:solidFill>
                          <a:latin typeface="Calibri"/>
                          <a:ea typeface="Calibri"/>
                          <a:cs typeface="Calibri"/>
                        </a:rPr>
                        <a:t>routing between simple and advanced model</a:t>
                      </a:r>
                      <a:r>
                        <a:rPr sz="1800" b="0" dirty="0">
                          <a:solidFill>
                            <a:srgbClr val="292E31"/>
                          </a:solidFill>
                          <a:latin typeface="Calibri"/>
                          <a:ea typeface="Calibri"/>
                          <a:cs typeface="Calibri"/>
                        </a:rPr>
                        <a:t>;</a:t>
                      </a:r>
                      <a:r>
                        <a:rPr lang="en-US" sz="1800" b="0" dirty="0">
                          <a:solidFill>
                            <a:srgbClr val="292E31"/>
                          </a:solidFill>
                          <a:latin typeface="Calibri"/>
                          <a:ea typeface="Calibri"/>
                          <a:cs typeface="Calibri"/>
                        </a:rPr>
                        <a:t> </a:t>
                      </a:r>
                      <a:r>
                        <a:rPr sz="1800" b="0" dirty="0">
                          <a:solidFill>
                            <a:srgbClr val="292E31"/>
                          </a:solidFill>
                          <a:latin typeface="Calibri"/>
                          <a:ea typeface="Calibri"/>
                          <a:cs typeface="Calibri"/>
                        </a:rPr>
                        <a:t>keep facts already supported</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dirty="0">
                          <a:solidFill>
                            <a:srgbClr val="292E31"/>
                          </a:solidFill>
                          <a:latin typeface="Calibri"/>
                          <a:ea typeface="Calibri"/>
                          <a:cs typeface="Calibri"/>
                        </a:rPr>
                        <a:t>Stay focused on the question;</a:t>
                      </a:r>
                    </a:p>
                    <a:p>
                      <a:r>
                        <a:rPr sz="1800" b="0" dirty="0">
                          <a:solidFill>
                            <a:srgbClr val="292E31"/>
                          </a:solidFill>
                          <a:latin typeface="Calibri"/>
                          <a:ea typeface="Calibri"/>
                          <a:cs typeface="Calibri"/>
                        </a:rPr>
                        <a:t>keep useful partial answers</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3"/>
                  </a:ext>
                </a:extLst>
              </a:tr>
              <a:tr h="819150">
                <a:tc>
                  <a:txBody>
                    <a:bodyPr/>
                    <a:lstStyle/>
                    <a:p>
                      <a:pPr algn="ctr"/>
                      <a:r>
                        <a:rPr sz="1800" b="0" dirty="0">
                          <a:solidFill>
                            <a:srgbClr val="292E31"/>
                          </a:solidFill>
                          <a:latin typeface="Calibri"/>
                          <a:ea typeface="Calibri"/>
                          <a:cs typeface="Calibri"/>
                        </a:rPr>
                        <a:t>V4</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Select better passages;</a:t>
                      </a:r>
                    </a:p>
                    <a:p>
                      <a:r>
                        <a:rPr sz="1800" b="0">
                          <a:solidFill>
                            <a:srgbClr val="292E31"/>
                          </a:solidFill>
                          <a:latin typeface="Calibri"/>
                          <a:ea typeface="Calibri"/>
                          <a:cs typeface="Calibri"/>
                        </a:rPr>
                        <a:t>check for missing answer parts</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dirty="0">
                          <a:solidFill>
                            <a:srgbClr val="292E31"/>
                          </a:solidFill>
                          <a:latin typeface="Calibri"/>
                          <a:ea typeface="Calibri"/>
                          <a:cs typeface="Calibri"/>
                        </a:rPr>
                        <a:t>Find evidence for each part</a:t>
                      </a:r>
                    </a:p>
                    <a:p>
                      <a:r>
                        <a:rPr sz="1800" b="0" dirty="0">
                          <a:solidFill>
                            <a:srgbClr val="292E31"/>
                          </a:solidFill>
                          <a:latin typeface="Calibri"/>
                          <a:ea typeface="Calibri"/>
                          <a:cs typeface="Calibri"/>
                        </a:rPr>
                        <a:t>of a multipart question</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Rectangle 2">
            <a:extLst>
              <a:ext uri="{FF2B5EF4-FFF2-40B4-BE49-F238E27FC236}">
                <a16:creationId xmlns:a16="http://schemas.microsoft.com/office/drawing/2014/main" id="{9329D780-471C-475A-A619-1E1E11DEA75A}"/>
              </a:ext>
            </a:extLst>
          </p:cNvPr>
          <p:cNvSpPr>
            <a:spLocks noGrp="1"/>
          </p:cNvSpPr>
          <p:nvPr/>
        </p:nvSpPr>
        <p:spPr>
          <a:xfrm>
            <a:off x="800100" y="1455066"/>
            <a:ext cx="10591800" cy="609600"/>
          </a:xfrm>
          <a:prstGeom prst="rect">
            <a:avLst/>
          </a:prstGeom>
          <a:noFill/>
          <a:ln w="0">
            <a:noFill/>
            <a:prstDash val="solid"/>
          </a:ln>
        </p:spPr>
        <p:txBody>
          <a:bodyPr/>
          <a:lstStyle>
            <a:defPPr algn="l">
              <a:defRPr sz="1575" b="0">
                <a:solidFill>
                  <a:srgbClr val="66717A"/>
                </a:solidFill>
                <a:latin typeface="Calibri"/>
                <a:ea typeface="Calibri"/>
                <a:cs typeface="Calibri"/>
              </a:defRPr>
            </a:defPPr>
          </a:lstStyle>
          <a:p>
            <a:pPr algn="l">
              <a:buNone/>
              <a:defRPr sz="1575" b="0">
                <a:solidFill>
                  <a:srgbClr val="66717A"/>
                </a:solidFill>
                <a:latin typeface="Calibri"/>
                <a:ea typeface="Calibri"/>
                <a:cs typeface="Calibri"/>
              </a:defRPr>
            </a:pPr>
            <a:r>
              <a:rPr lang="en-US" sz="1575" b="0" dirty="0">
                <a:solidFill>
                  <a:srgbClr val="66717A"/>
                </a:solidFill>
                <a:latin typeface="Calibri"/>
                <a:ea typeface="Calibri"/>
                <a:cs typeface="Calibri"/>
              </a:rPr>
              <a:t>M</a:t>
            </a:r>
            <a:r>
              <a:rPr sz="1575" b="0" dirty="0">
                <a:solidFill>
                  <a:srgbClr val="66717A"/>
                </a:solidFill>
                <a:latin typeface="Calibri"/>
                <a:ea typeface="Calibri"/>
                <a:cs typeface="Calibri"/>
              </a:rPr>
              <a:t>odel famil</a:t>
            </a:r>
            <a:r>
              <a:rPr lang="en-US" sz="1575" b="0" dirty="0">
                <a:solidFill>
                  <a:srgbClr val="66717A"/>
                </a:solidFill>
                <a:latin typeface="Calibri"/>
                <a:ea typeface="Calibri"/>
                <a:cs typeface="Calibri"/>
              </a:rPr>
              <a:t>ies stayed</a:t>
            </a:r>
            <a:r>
              <a:rPr sz="1575" b="0" dirty="0">
                <a:solidFill>
                  <a:srgbClr val="66717A"/>
                </a:solidFill>
                <a:latin typeface="Calibri"/>
                <a:ea typeface="Calibri"/>
                <a:cs typeface="Calibri"/>
              </a:rPr>
              <a:t> the same. </a:t>
            </a:r>
            <a:r>
              <a:rPr lang="en-US" sz="1575" dirty="0">
                <a:solidFill>
                  <a:srgbClr val="66717A"/>
                </a:solidFill>
                <a:latin typeface="Calibri"/>
                <a:ea typeface="Calibri"/>
                <a:cs typeface="Calibri"/>
              </a:rPr>
              <a:t>W</a:t>
            </a:r>
            <a:r>
              <a:rPr sz="1575" b="0" dirty="0">
                <a:solidFill>
                  <a:srgbClr val="66717A"/>
                </a:solidFill>
                <a:latin typeface="Calibri"/>
                <a:ea typeface="Calibri"/>
                <a:cs typeface="Calibri"/>
              </a:rPr>
              <a:t>orkflow and evidence handling change</a:t>
            </a:r>
            <a:r>
              <a:rPr lang="en-US" sz="1575" dirty="0">
                <a:solidFill>
                  <a:srgbClr val="66717A"/>
                </a:solidFill>
                <a:latin typeface="Calibri"/>
                <a:ea typeface="Calibri"/>
                <a:cs typeface="Calibri"/>
              </a:rPr>
              <a:t>d from version 1 to 4.</a:t>
            </a:r>
            <a:endParaRPr sz="1575" b="0" dirty="0">
              <a:solidFill>
                <a:srgbClr val="66717A"/>
              </a:solidFill>
              <a:latin typeface="Calibri"/>
              <a:ea typeface="Calibri"/>
              <a:cs typeface="Calibri"/>
            </a:endParaRPr>
          </a:p>
        </p:txBody>
      </p:sp>
    </p:spTree>
    <p:extLst>
      <p:ext uri="{BB962C8B-B14F-4D97-AF65-F5344CB8AC3E}">
        <p14:creationId xmlns:p14="http://schemas.microsoft.com/office/powerpoint/2010/main" val="1236181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45F84C-545C-4CA6-B8CB-CEF702EE4276}"/>
              </a:ext>
            </a:extLst>
          </p:cNvPr>
          <p:cNvPicPr>
            <a:picLocks noChangeAspect="1"/>
          </p:cNvPicPr>
          <p:nvPr/>
        </p:nvPicPr>
        <p:blipFill>
          <a:blip r:embed="rId3"/>
          <a:stretch/>
        </p:blipFill>
        <p:spPr>
          <a:xfrm>
            <a:off x="129306" y="70950"/>
            <a:ext cx="11933388" cy="6716099"/>
          </a:xfrm>
          <a:prstGeom prst="rect">
            <a:avLst/>
          </a:prstGeom>
        </p:spPr>
      </p:pic>
      <p:sp>
        <p:nvSpPr>
          <p:cNvPr id="4" name="TextBox 8">
            <a:extLst>
              <a:ext uri="{FF2B5EF4-FFF2-40B4-BE49-F238E27FC236}">
                <a16:creationId xmlns:a16="http://schemas.microsoft.com/office/drawing/2014/main" id="{F0EC22AA-F898-CC4B-82DB-4645CCD8D1F9}"/>
              </a:ext>
            </a:extLst>
          </p:cNvPr>
          <p:cNvSpPr>
            <a:spLocks noGrp="1"/>
          </p:cNvSpPr>
          <p:nvPr/>
        </p:nvSpPr>
        <p:spPr>
          <a:xfrm>
            <a:off x="648389" y="37709"/>
            <a:ext cx="10763250" cy="731834"/>
          </a:xfrm>
          <a:prstGeom prst="rect">
            <a:avLst/>
          </a:prstGeom>
          <a:solidFill>
            <a:schemeClr val="lt1"/>
          </a:solidFill>
        </p:spPr>
        <p:txBody>
          <a:bodyPr wrap="square" lIns="0" tIns="0" rIns="0" bIns="0" anchor="ctr" anchorCtr="0">
            <a:noAutofit/>
          </a:bodyPr>
          <a:lstStyle>
            <a:defPPr algn="ctr">
              <a:defRPr sz="2800" b="1">
                <a:solidFill>
                  <a:srgbClr val="A31F34"/>
                </a:solidFill>
                <a:latin typeface="Calibri"/>
                <a:ea typeface="Calibri"/>
                <a:cs typeface="Calibri"/>
              </a:defRPr>
            </a:defPPr>
          </a:lstStyle>
          <a:p>
            <a:pPr algn="ctr">
              <a:buNone/>
              <a:defRPr sz="2800" b="1">
                <a:solidFill>
                  <a:srgbClr val="A31F34"/>
                </a:solidFill>
                <a:latin typeface="Calibri"/>
                <a:ea typeface="Calibri"/>
                <a:cs typeface="Calibri"/>
              </a:defRPr>
            </a:pPr>
            <a:r>
              <a:rPr lang="en-US" sz="2800" b="1" dirty="0">
                <a:solidFill>
                  <a:srgbClr val="A31F34"/>
                </a:solidFill>
                <a:latin typeface="Calibri"/>
                <a:ea typeface="Calibri"/>
                <a:cs typeface="Calibri"/>
              </a:rPr>
              <a:t>Retrieval and Evaluation (Final version: v4)</a:t>
            </a:r>
            <a:endParaRPr sz="2800" b="1" dirty="0">
              <a:solidFill>
                <a:srgbClr val="A31F34"/>
              </a:solidFill>
              <a:latin typeface="Calibri"/>
              <a:ea typeface="Calibri"/>
              <a:cs typeface="Calibri"/>
            </a:endParaRPr>
          </a:p>
        </p:txBody>
      </p:sp>
    </p:spTree>
    <p:extLst>
      <p:ext uri="{BB962C8B-B14F-4D97-AF65-F5344CB8AC3E}">
        <p14:creationId xmlns:p14="http://schemas.microsoft.com/office/powerpoint/2010/main" val="3289224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3F3F64E-BE4D-D3DF-57D5-BF67AE1E9EDD}"/>
              </a:ext>
            </a:extLst>
          </p:cNvPr>
          <p:cNvSpPr>
            <a:spLocks noGrp="1"/>
          </p:cNvSpPr>
          <p:nvPr/>
        </p:nvSpPr>
        <p:spPr>
          <a:xfrm>
            <a:off x="714375" y="609600"/>
            <a:ext cx="10763250" cy="518160"/>
          </a:xfrm>
          <a:prstGeom prst="rect">
            <a:avLst/>
          </a:prstGeom>
          <a:noFill/>
        </p:spPr>
        <p:txBody>
          <a:bodyPr wrap="square" lIns="0" tIns="0" rIns="0" bIns="0">
            <a:noAutofit/>
          </a:bodyPr>
          <a:lstStyle>
            <a:defPPr algn="ctr">
              <a:defRPr sz="2800" b="1">
                <a:solidFill>
                  <a:srgbClr val="A31F34"/>
                </a:solidFill>
                <a:latin typeface="Calibri"/>
                <a:ea typeface="Calibri"/>
                <a:cs typeface="Calibri"/>
              </a:defRPr>
            </a:defPPr>
          </a:lstStyle>
          <a:p>
            <a:pPr algn="ctr">
              <a:buNone/>
              <a:defRPr sz="2800" b="1">
                <a:solidFill>
                  <a:srgbClr val="A31F34"/>
                </a:solidFill>
                <a:latin typeface="Calibri"/>
                <a:ea typeface="Calibri"/>
                <a:cs typeface="Calibri"/>
              </a:defRPr>
            </a:pPr>
            <a:r>
              <a:rPr sz="2800" b="1">
                <a:solidFill>
                  <a:srgbClr val="A31F34"/>
                </a:solidFill>
                <a:latin typeface="Calibri"/>
                <a:ea typeface="Calibri"/>
                <a:cs typeface="Calibri"/>
              </a:rPr>
              <a:t>Evaluation Method and Built-In Reporting</a:t>
            </a:r>
          </a:p>
        </p:txBody>
      </p:sp>
      <p:graphicFrame>
        <p:nvGraphicFramePr>
          <p:cNvPr id="10" name="Table 9">
            <a:extLst>
              <a:ext uri="{FF2B5EF4-FFF2-40B4-BE49-F238E27FC236}">
                <a16:creationId xmlns:a16="http://schemas.microsoft.com/office/drawing/2014/main" id="{86361885-9C62-4799-B69B-C7A491EDC75D}"/>
              </a:ext>
            </a:extLst>
          </p:cNvPr>
          <p:cNvGraphicFramePr/>
          <p:nvPr>
            <p:extLst>
              <p:ext uri="{D42A27DB-BD31-4B8C-83A1-F6EECF244321}">
                <p14:modId xmlns:p14="http://schemas.microsoft.com/office/powerpoint/2010/main" val="3609981578"/>
              </p:ext>
            </p:extLst>
          </p:nvPr>
        </p:nvGraphicFramePr>
        <p:xfrm>
          <a:off x="800100" y="2128790"/>
          <a:ext cx="10591800" cy="3143250"/>
        </p:xfrm>
        <a:graphic>
          <a:graphicData uri="http://schemas.openxmlformats.org/drawingml/2006/table">
            <a:tbl>
              <a:tblPr/>
              <a:tblGrid>
                <a:gridCol w="2476500">
                  <a:extLst>
                    <a:ext uri="{9D8B030D-6E8A-4147-A177-3AD203B41FA5}">
                      <a16:colId xmlns:a16="http://schemas.microsoft.com/office/drawing/2014/main" val="20000"/>
                    </a:ext>
                  </a:extLst>
                </a:gridCol>
                <a:gridCol w="8115300">
                  <a:extLst>
                    <a:ext uri="{9D8B030D-6E8A-4147-A177-3AD203B41FA5}">
                      <a16:colId xmlns:a16="http://schemas.microsoft.com/office/drawing/2014/main" val="20001"/>
                    </a:ext>
                  </a:extLst>
                </a:gridCol>
              </a:tblGrid>
              <a:tr h="628650">
                <a:tc>
                  <a:txBody>
                    <a:bodyPr/>
                    <a:lstStyle/>
                    <a:p>
                      <a:r>
                        <a:rPr sz="1875" b="1" dirty="0">
                          <a:solidFill>
                            <a:srgbClr val="FFFFFF"/>
                          </a:solidFill>
                          <a:latin typeface="Calibri"/>
                          <a:ea typeface="Calibri"/>
                          <a:cs typeface="Calibri"/>
                        </a:rPr>
                        <a:t>Component</a:t>
                      </a:r>
                    </a:p>
                  </a:txBody>
                  <a:tcPr anchor="ctr">
                    <a:lnL w="9525">
                      <a:solidFill>
                        <a:srgbClr val="D8DEE1"/>
                      </a:solidFill>
                      <a:prstDash val="solid"/>
                    </a:lnL>
                    <a:lnR w="9525">
                      <a:solidFill>
                        <a:srgbClr val="D8DEE1"/>
                      </a:solidFill>
                      <a:prstDash val="solid"/>
                    </a:lnR>
                    <a:lnT w="9525">
                      <a:solidFill>
                        <a:srgbClr val="D8DEE1"/>
                      </a:solidFill>
                      <a:prstDash val="solid"/>
                    </a:lnT>
                    <a:lnB w="9525">
                      <a:solidFill>
                        <a:srgbClr val="D8DEE1"/>
                      </a:solidFill>
                      <a:prstDash val="solid"/>
                    </a:lnB>
                    <a:solidFill>
                      <a:srgbClr val="365C6A"/>
                    </a:solidFill>
                  </a:tcPr>
                </a:tc>
                <a:tc>
                  <a:txBody>
                    <a:bodyPr/>
                    <a:lstStyle/>
                    <a:p>
                      <a:r>
                        <a:rPr sz="1875" b="1">
                          <a:solidFill>
                            <a:srgbClr val="FFFFFF"/>
                          </a:solidFill>
                          <a:latin typeface="Calibri"/>
                          <a:ea typeface="Calibri"/>
                          <a:cs typeface="Calibri"/>
                        </a:rPr>
                        <a:t>How the evaluation works</a:t>
                      </a:r>
                    </a:p>
                  </a:txBody>
                  <a:tcPr anchor="ctr">
                    <a:lnL w="9525" cap="flat" cmpd="sng" algn="ctr">
                      <a:solidFill>
                        <a:srgbClr val="D8DEE1"/>
                      </a:solidFill>
                      <a:prstDash val="solid"/>
                      <a:round/>
                      <a:headEnd type="none" w="med" len="med"/>
                      <a:tailEnd type="none" w="med" len="med"/>
                    </a:lnL>
                    <a:lnR w="9525">
                      <a:solidFill>
                        <a:srgbClr val="D8DEE1"/>
                      </a:solidFill>
                      <a:prstDash val="solid"/>
                    </a:lnR>
                    <a:lnT w="9525">
                      <a:solidFill>
                        <a:srgbClr val="D8DEE1"/>
                      </a:solidFill>
                      <a:prstDash val="solid"/>
                    </a:lnT>
                    <a:lnB w="9525">
                      <a:solidFill>
                        <a:srgbClr val="D8DEE1"/>
                      </a:solidFill>
                      <a:prstDash val="solid"/>
                    </a:lnB>
                    <a:solidFill>
                      <a:srgbClr val="365C6A"/>
                    </a:solidFill>
                  </a:tcPr>
                </a:tc>
                <a:extLst>
                  <a:ext uri="{0D108BD9-81ED-4DB2-BD59-A6C34878D82A}">
                    <a16:rowId xmlns:a16="http://schemas.microsoft.com/office/drawing/2014/main" val="10000"/>
                  </a:ext>
                </a:extLst>
              </a:tr>
              <a:tr h="628650">
                <a:tc>
                  <a:txBody>
                    <a:bodyPr/>
                    <a:lstStyle/>
                    <a:p>
                      <a:r>
                        <a:rPr sz="1875" b="0">
                          <a:solidFill>
                            <a:srgbClr val="292E31"/>
                          </a:solidFill>
                          <a:latin typeface="Calibri"/>
                          <a:ea typeface="Calibri"/>
                          <a:cs typeface="Calibri"/>
                        </a:rPr>
                        <a:t>Test set</a:t>
                      </a:r>
                    </a:p>
                  </a:txBody>
                  <a:tcPr anchor="ctr">
                    <a:lnL w="9525">
                      <a:solidFill>
                        <a:srgbClr val="D8DEE1"/>
                      </a:solidFill>
                      <a:prstDash val="solid"/>
                    </a:lnL>
                    <a:lnR w="9525">
                      <a:solidFill>
                        <a:srgbClr val="D8DEE1"/>
                      </a:solidFill>
                      <a:prstDash val="solid"/>
                    </a:lnR>
                    <a:lnT w="9525" cap="flat" cmpd="sng" algn="ctr">
                      <a:solidFill>
                        <a:srgbClr val="D8DEE1"/>
                      </a:solidFill>
                      <a:prstDash val="solid"/>
                      <a:round/>
                      <a:headEnd type="none" w="med" len="med"/>
                      <a:tailEnd type="none" w="med" len="med"/>
                    </a:lnT>
                    <a:lnB w="9525">
                      <a:solidFill>
                        <a:srgbClr val="D8DEE1"/>
                      </a:solidFill>
                      <a:prstDash val="solid"/>
                    </a:lnB>
                    <a:solidFill>
                      <a:srgbClr val="FFFFFF"/>
                    </a:solidFill>
                  </a:tcPr>
                </a:tc>
                <a:tc>
                  <a:txBody>
                    <a:bodyPr/>
                    <a:lstStyle/>
                    <a:p>
                      <a:r>
                        <a:rPr sz="1875" b="0">
                          <a:solidFill>
                            <a:srgbClr val="292E31"/>
                          </a:solidFill>
                          <a:latin typeface="Calibri"/>
                          <a:ea typeface="Calibri"/>
                          <a:cs typeface="Calibri"/>
                        </a:rPr>
                        <a:t>33 single-article, 16 multi-article, 1 unanswerable</a:t>
                      </a:r>
                    </a:p>
                  </a:txBody>
                  <a:tcPr anchor="ctr">
                    <a:lnL w="9525" cap="flat" cmpd="sng" algn="ctr">
                      <a:solidFill>
                        <a:srgbClr val="D8DEE1"/>
                      </a:solidFill>
                      <a:prstDash val="solid"/>
                      <a:round/>
                      <a:headEnd type="none" w="med" len="med"/>
                      <a:tailEnd type="none" w="med" len="med"/>
                    </a:lnL>
                    <a:lnR w="9525">
                      <a:solidFill>
                        <a:srgbClr val="D8DEE1"/>
                      </a:solidFill>
                      <a:prstDash val="solid"/>
                    </a:lnR>
                    <a:lnT w="9525" cap="flat" cmpd="sng" algn="ctr">
                      <a:solidFill>
                        <a:srgbClr val="D8DEE1"/>
                      </a:solidFill>
                      <a:prstDash val="solid"/>
                      <a:round/>
                      <a:headEnd type="none" w="med" len="med"/>
                      <a:tailEnd type="none" w="med" len="med"/>
                    </a:lnT>
                    <a:lnB w="9525">
                      <a:solidFill>
                        <a:srgbClr val="D8DEE1"/>
                      </a:solidFill>
                      <a:prstDash val="solid"/>
                    </a:lnB>
                    <a:solidFill>
                      <a:srgbClr val="FFFFFF"/>
                    </a:solidFill>
                  </a:tcPr>
                </a:tc>
                <a:extLst>
                  <a:ext uri="{0D108BD9-81ED-4DB2-BD59-A6C34878D82A}">
                    <a16:rowId xmlns:a16="http://schemas.microsoft.com/office/drawing/2014/main" val="10001"/>
                  </a:ext>
                </a:extLst>
              </a:tr>
              <a:tr h="628650">
                <a:tc>
                  <a:txBody>
                    <a:bodyPr/>
                    <a:lstStyle/>
                    <a:p>
                      <a:r>
                        <a:rPr sz="1875" b="0" dirty="0">
                          <a:solidFill>
                            <a:srgbClr val="292E31"/>
                          </a:solidFill>
                          <a:latin typeface="Calibri"/>
                          <a:ea typeface="Calibri"/>
                          <a:cs typeface="Calibri"/>
                        </a:rPr>
                        <a:t>LLM judge</a:t>
                      </a:r>
                    </a:p>
                  </a:txBody>
                  <a:tcPr anchor="ctr">
                    <a:lnL w="9525">
                      <a:solidFill>
                        <a:srgbClr val="D8DEE1"/>
                      </a:solidFill>
                      <a:prstDash val="solid"/>
                    </a:lnL>
                    <a:lnR w="9525">
                      <a:solidFill>
                        <a:srgbClr val="D8DEE1"/>
                      </a:solidFill>
                      <a:prstDash val="solid"/>
                    </a:lnR>
                    <a:lnT w="9525" cap="flat" cmpd="sng" algn="ctr">
                      <a:solidFill>
                        <a:srgbClr val="D8DEE1"/>
                      </a:solidFill>
                      <a:prstDash val="solid"/>
                      <a:round/>
                      <a:headEnd type="none" w="med" len="med"/>
                      <a:tailEnd type="none" w="med" len="med"/>
                    </a:lnT>
                    <a:lnB w="9525">
                      <a:solidFill>
                        <a:srgbClr val="D8DEE1"/>
                      </a:solidFill>
                      <a:prstDash val="solid"/>
                    </a:lnB>
                    <a:solidFill>
                      <a:srgbClr val="FFFFFF"/>
                    </a:solidFill>
                  </a:tcPr>
                </a:tc>
                <a:tc>
                  <a:txBody>
                    <a:bodyPr/>
                    <a:lstStyle/>
                    <a:p>
                      <a:r>
                        <a:rPr sz="1875" b="0">
                          <a:solidFill>
                            <a:srgbClr val="292E31"/>
                          </a:solidFill>
                          <a:latin typeface="Calibri"/>
                          <a:ea typeface="Calibri"/>
                          <a:cs typeface="Calibri"/>
                        </a:rPr>
                        <a:t>GPT-5.4-mini compares answers with references and evidence</a:t>
                      </a:r>
                    </a:p>
                  </a:txBody>
                  <a:tcPr anchor="ctr">
                    <a:lnL w="9525" cap="flat" cmpd="sng" algn="ctr">
                      <a:solidFill>
                        <a:srgbClr val="D8DEE1"/>
                      </a:solidFill>
                      <a:prstDash val="solid"/>
                      <a:round/>
                      <a:headEnd type="none" w="med" len="med"/>
                      <a:tailEnd type="none" w="med" len="med"/>
                    </a:lnL>
                    <a:lnR w="9525">
                      <a:solidFill>
                        <a:srgbClr val="D8DEE1"/>
                      </a:solidFill>
                      <a:prstDash val="solid"/>
                    </a:lnR>
                    <a:lnT w="9525" cap="flat" cmpd="sng" algn="ctr">
                      <a:solidFill>
                        <a:srgbClr val="D8DEE1"/>
                      </a:solidFill>
                      <a:prstDash val="solid"/>
                      <a:round/>
                      <a:headEnd type="none" w="med" len="med"/>
                      <a:tailEnd type="none" w="med" len="med"/>
                    </a:lnT>
                    <a:lnB w="9525">
                      <a:solidFill>
                        <a:srgbClr val="D8DEE1"/>
                      </a:solidFill>
                      <a:prstDash val="solid"/>
                    </a:lnB>
                    <a:solidFill>
                      <a:srgbClr val="FFFFFF"/>
                    </a:solidFill>
                  </a:tcPr>
                </a:tc>
                <a:extLst>
                  <a:ext uri="{0D108BD9-81ED-4DB2-BD59-A6C34878D82A}">
                    <a16:rowId xmlns:a16="http://schemas.microsoft.com/office/drawing/2014/main" val="10002"/>
                  </a:ext>
                </a:extLst>
              </a:tr>
              <a:tr h="628650">
                <a:tc>
                  <a:txBody>
                    <a:bodyPr/>
                    <a:lstStyle/>
                    <a:p>
                      <a:r>
                        <a:rPr sz="1875" b="0">
                          <a:solidFill>
                            <a:srgbClr val="292E31"/>
                          </a:solidFill>
                          <a:latin typeface="Calibri"/>
                          <a:ea typeface="Calibri"/>
                          <a:cs typeface="Calibri"/>
                        </a:rPr>
                        <a:t>Metrics</a:t>
                      </a:r>
                    </a:p>
                  </a:txBody>
                  <a:tcPr anchor="ctr">
                    <a:lnL w="9525">
                      <a:solidFill>
                        <a:srgbClr val="D8DEE1"/>
                      </a:solidFill>
                      <a:prstDash val="solid"/>
                    </a:lnL>
                    <a:lnR w="9525">
                      <a:solidFill>
                        <a:srgbClr val="D8DEE1"/>
                      </a:solidFill>
                      <a:prstDash val="solid"/>
                    </a:lnR>
                    <a:lnT w="9525" cap="flat" cmpd="sng" algn="ctr">
                      <a:solidFill>
                        <a:srgbClr val="D8DEE1"/>
                      </a:solidFill>
                      <a:prstDash val="solid"/>
                      <a:round/>
                      <a:headEnd type="none" w="med" len="med"/>
                      <a:tailEnd type="none" w="med" len="med"/>
                    </a:lnT>
                    <a:lnB w="9525">
                      <a:solidFill>
                        <a:srgbClr val="D8DEE1"/>
                      </a:solidFill>
                      <a:prstDash val="solid"/>
                    </a:lnB>
                    <a:solidFill>
                      <a:srgbClr val="FFFFFF"/>
                    </a:solidFill>
                  </a:tcPr>
                </a:tc>
                <a:tc>
                  <a:txBody>
                    <a:bodyPr/>
                    <a:lstStyle/>
                    <a:p>
                      <a:r>
                        <a:rPr sz="1875" b="0">
                          <a:solidFill>
                            <a:srgbClr val="292E31"/>
                          </a:solidFill>
                          <a:latin typeface="Calibri"/>
                          <a:ea typeface="Calibri"/>
                          <a:cs typeface="Calibri"/>
                        </a:rPr>
                        <a:t>Correctness, grounding, source recall, latency, tokens, USD</a:t>
                      </a:r>
                    </a:p>
                  </a:txBody>
                  <a:tcPr anchor="ctr">
                    <a:lnL w="9525" cap="flat" cmpd="sng" algn="ctr">
                      <a:solidFill>
                        <a:srgbClr val="D8DEE1"/>
                      </a:solidFill>
                      <a:prstDash val="solid"/>
                      <a:round/>
                      <a:headEnd type="none" w="med" len="med"/>
                      <a:tailEnd type="none" w="med" len="med"/>
                    </a:lnL>
                    <a:lnR w="9525">
                      <a:solidFill>
                        <a:srgbClr val="D8DEE1"/>
                      </a:solidFill>
                      <a:prstDash val="solid"/>
                    </a:lnR>
                    <a:lnT w="9525" cap="flat" cmpd="sng" algn="ctr">
                      <a:solidFill>
                        <a:srgbClr val="D8DEE1"/>
                      </a:solidFill>
                      <a:prstDash val="solid"/>
                      <a:round/>
                      <a:headEnd type="none" w="med" len="med"/>
                      <a:tailEnd type="none" w="med" len="med"/>
                    </a:lnT>
                    <a:lnB w="9525">
                      <a:solidFill>
                        <a:srgbClr val="D8DEE1"/>
                      </a:solidFill>
                      <a:prstDash val="solid"/>
                    </a:lnB>
                    <a:solidFill>
                      <a:srgbClr val="FFFFFF"/>
                    </a:solidFill>
                  </a:tcPr>
                </a:tc>
                <a:extLst>
                  <a:ext uri="{0D108BD9-81ED-4DB2-BD59-A6C34878D82A}">
                    <a16:rowId xmlns:a16="http://schemas.microsoft.com/office/drawing/2014/main" val="10003"/>
                  </a:ext>
                </a:extLst>
              </a:tr>
              <a:tr h="628650">
                <a:tc>
                  <a:txBody>
                    <a:bodyPr/>
                    <a:lstStyle/>
                    <a:p>
                      <a:r>
                        <a:rPr sz="1875" b="0">
                          <a:solidFill>
                            <a:srgbClr val="292E31"/>
                          </a:solidFill>
                          <a:latin typeface="Calibri"/>
                          <a:ea typeface="Calibri"/>
                          <a:cs typeface="Calibri"/>
                        </a:rPr>
                        <a:t>Saved outputs</a:t>
                      </a:r>
                    </a:p>
                  </a:txBody>
                  <a:tcPr anchor="ctr">
                    <a:lnL w="9525">
                      <a:solidFill>
                        <a:srgbClr val="D8DEE1"/>
                      </a:solidFill>
                      <a:prstDash val="solid"/>
                    </a:lnL>
                    <a:lnR w="9525">
                      <a:solidFill>
                        <a:srgbClr val="D8DEE1"/>
                      </a:solidFill>
                      <a:prstDash val="solid"/>
                    </a:lnR>
                    <a:lnT w="9525" cap="flat" cmpd="sng" algn="ctr">
                      <a:solidFill>
                        <a:srgbClr val="D8DEE1"/>
                      </a:solidFill>
                      <a:prstDash val="solid"/>
                      <a:round/>
                      <a:headEnd type="none" w="med" len="med"/>
                      <a:tailEnd type="none" w="med" len="med"/>
                    </a:lnT>
                    <a:lnB w="9525">
                      <a:solidFill>
                        <a:srgbClr val="D8DEE1"/>
                      </a:solidFill>
                      <a:prstDash val="solid"/>
                    </a:lnB>
                    <a:solidFill>
                      <a:srgbClr val="FFFFFF"/>
                    </a:solidFill>
                  </a:tcPr>
                </a:tc>
                <a:tc>
                  <a:txBody>
                    <a:bodyPr/>
                    <a:lstStyle/>
                    <a:p>
                      <a:r>
                        <a:rPr sz="1875" b="0" dirty="0" err="1">
                          <a:solidFill>
                            <a:srgbClr val="292E31"/>
                          </a:solidFill>
                          <a:latin typeface="Calibri"/>
                          <a:ea typeface="Calibri"/>
                          <a:cs typeface="Calibri"/>
                        </a:rPr>
                        <a:t>report.json</a:t>
                      </a:r>
                      <a:r>
                        <a:rPr sz="1875" b="0" dirty="0">
                          <a:solidFill>
                            <a:srgbClr val="292E31"/>
                          </a:solidFill>
                          <a:latin typeface="Calibri"/>
                          <a:ea typeface="Calibri"/>
                          <a:cs typeface="Calibri"/>
                        </a:rPr>
                        <a:t>, results.csv and </a:t>
                      </a:r>
                      <a:r>
                        <a:rPr sz="1875" b="0" dirty="0" err="1">
                          <a:solidFill>
                            <a:srgbClr val="292E31"/>
                          </a:solidFill>
                          <a:latin typeface="Calibri"/>
                          <a:ea typeface="Calibri"/>
                          <a:cs typeface="Calibri"/>
                        </a:rPr>
                        <a:t>human_review.json</a:t>
                      </a:r>
                      <a:endParaRPr sz="1875" b="0" dirty="0">
                        <a:solidFill>
                          <a:srgbClr val="292E31"/>
                        </a:solidFill>
                        <a:latin typeface="Calibri"/>
                        <a:ea typeface="Calibri"/>
                        <a:cs typeface="Calibri"/>
                      </a:endParaRPr>
                    </a:p>
                  </a:txBody>
                  <a:tcPr anchor="ctr">
                    <a:lnL w="9525" cap="flat" cmpd="sng" algn="ctr">
                      <a:solidFill>
                        <a:srgbClr val="D8DEE1"/>
                      </a:solidFill>
                      <a:prstDash val="solid"/>
                      <a:round/>
                      <a:headEnd type="none" w="med" len="med"/>
                      <a:tailEnd type="none" w="med" len="med"/>
                    </a:lnL>
                    <a:lnR w="9525">
                      <a:solidFill>
                        <a:srgbClr val="D8DEE1"/>
                      </a:solidFill>
                      <a:prstDash val="solid"/>
                    </a:lnR>
                    <a:lnT w="9525" cap="flat" cmpd="sng" algn="ctr">
                      <a:solidFill>
                        <a:srgbClr val="D8DEE1"/>
                      </a:solidFill>
                      <a:prstDash val="solid"/>
                      <a:round/>
                      <a:headEnd type="none" w="med" len="med"/>
                      <a:tailEnd type="none" w="med" len="med"/>
                    </a:lnT>
                    <a:lnB w="9525">
                      <a:solidFill>
                        <a:srgbClr val="D8DEE1"/>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1" name="26 / 26 offline regression checks passed">
            <a:extLst>
              <a:ext uri="{FF2B5EF4-FFF2-40B4-BE49-F238E27FC236}">
                <a16:creationId xmlns:a16="http://schemas.microsoft.com/office/drawing/2014/main" id="{1440348D-70E8-4AD2-A8D7-F3860485655D}"/>
              </a:ext>
            </a:extLst>
          </p:cNvPr>
          <p:cNvSpPr>
            <a:spLocks noGrp="1"/>
          </p:cNvSpPr>
          <p:nvPr/>
        </p:nvSpPr>
        <p:spPr>
          <a:xfrm>
            <a:off x="885825" y="1518550"/>
            <a:ext cx="10591800" cy="428625"/>
          </a:xfrm>
          <a:prstGeom prst="rect">
            <a:avLst/>
          </a:prstGeom>
          <a:noFill/>
          <a:ln w="0">
            <a:noFill/>
            <a:prstDash val="solid"/>
          </a:ln>
        </p:spPr>
        <p:txBody>
          <a:bodyPr lIns="0" tIns="0" rIns="0" bIns="0" anchor="t">
            <a:noAutofit/>
          </a:bodyPr>
          <a:lstStyle>
            <a:defPPr algn="l">
              <a:defRPr sz="2400" b="1">
                <a:solidFill>
                  <a:srgbClr val="365C6A"/>
                </a:solidFill>
                <a:latin typeface="Calibri"/>
                <a:ea typeface="Calibri"/>
                <a:cs typeface="Calibri"/>
              </a:defRPr>
            </a:defPPr>
          </a:lstStyle>
          <a:p>
            <a:pPr algn="l">
              <a:buNone/>
              <a:defRPr sz="2400" b="1">
                <a:solidFill>
                  <a:srgbClr val="365C6A"/>
                </a:solidFill>
                <a:latin typeface="Calibri"/>
                <a:ea typeface="Calibri"/>
                <a:cs typeface="Calibri"/>
              </a:defRPr>
            </a:pPr>
            <a:r>
              <a:rPr sz="2400" b="1" dirty="0">
                <a:solidFill>
                  <a:srgbClr val="365C6A"/>
                </a:solidFill>
                <a:latin typeface="Calibri"/>
                <a:ea typeface="Calibri"/>
                <a:cs typeface="Calibri"/>
              </a:rPr>
              <a:t>Same 50 questions and corpus fingerprint across all four versions</a:t>
            </a:r>
          </a:p>
        </p:txBody>
      </p:sp>
    </p:spTree>
    <p:extLst>
      <p:ext uri="{BB962C8B-B14F-4D97-AF65-F5344CB8AC3E}">
        <p14:creationId xmlns:p14="http://schemas.microsoft.com/office/powerpoint/2010/main" val="1725571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3606360-765E-4830-83C7-C76DA0DAA58D}"/>
              </a:ext>
            </a:extLst>
          </p:cNvPr>
          <p:cNvSpPr>
            <a:spLocks noGrp="1"/>
          </p:cNvSpPr>
          <p:nvPr/>
        </p:nvSpPr>
        <p:spPr>
          <a:xfrm>
            <a:off x="714375" y="609600"/>
            <a:ext cx="10763250" cy="523875"/>
          </a:xfrm>
          <a:prstGeom prst="rect">
            <a:avLst/>
          </a:prstGeom>
          <a:noFill/>
          <a:ln w="0">
            <a:noFill/>
            <a:prstDash val="solid"/>
          </a:ln>
        </p:spPr>
        <p:txBody>
          <a:bodyPr/>
          <a:lstStyle>
            <a:defPPr algn="ctr">
              <a:defRPr sz="2700" b="1">
                <a:solidFill>
                  <a:srgbClr val="A91D36"/>
                </a:solidFill>
                <a:latin typeface="Calibri"/>
                <a:ea typeface="Calibri"/>
                <a:cs typeface="Calibri"/>
              </a:defRPr>
            </a:defPPr>
          </a:lstStyle>
          <a:p>
            <a:pPr algn="ctr">
              <a:buNone/>
              <a:defRPr sz="2700" b="1">
                <a:solidFill>
                  <a:srgbClr val="A91D36"/>
                </a:solidFill>
                <a:latin typeface="Calibri"/>
                <a:ea typeface="Calibri"/>
                <a:cs typeface="Calibri"/>
              </a:defRPr>
            </a:pPr>
            <a:r>
              <a:rPr sz="2700" b="1">
                <a:solidFill>
                  <a:srgbClr val="A91D36"/>
                </a:solidFill>
                <a:latin typeface="Calibri"/>
                <a:ea typeface="Calibri"/>
                <a:cs typeface="Calibri"/>
              </a:rPr>
              <a:t>Accuracy Across Four Versions</a:t>
            </a:r>
          </a:p>
        </p:txBody>
      </p:sp>
      <p:graphicFrame>
        <p:nvGraphicFramePr>
          <p:cNvPr id="3" name="Chart">
            <a:extLst>
              <a:ext uri="{FF2B5EF4-FFF2-40B4-BE49-F238E27FC236}">
                <a16:creationId xmlns:a16="http://schemas.microsoft.com/office/drawing/2014/main" id="{CA1BBB15-0BC4-42BA-830B-10DFE4057AB8}"/>
              </a:ext>
            </a:extLst>
          </p:cNvPr>
          <p:cNvGraphicFramePr/>
          <p:nvPr>
            <p:extLst>
              <p:ext uri="{D42A27DB-BD31-4B8C-83A1-F6EECF244321}">
                <p14:modId xmlns:p14="http://schemas.microsoft.com/office/powerpoint/2010/main" val="150567680"/>
              </p:ext>
            </p:extLst>
          </p:nvPr>
        </p:nvGraphicFramePr>
        <p:xfrm>
          <a:off x="896921" y="1941725"/>
          <a:ext cx="10096500" cy="36957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CB8B792B-F418-706D-355C-DE662A984CE1}"/>
              </a:ext>
            </a:extLst>
          </p:cNvPr>
          <p:cNvSpPr>
            <a:spLocks noGrp="1"/>
          </p:cNvSpPr>
          <p:nvPr/>
        </p:nvSpPr>
        <p:spPr>
          <a:xfrm>
            <a:off x="809625" y="975419"/>
            <a:ext cx="10572750" cy="381000"/>
          </a:xfrm>
          <a:prstGeom prst="rect">
            <a:avLst/>
          </a:prstGeom>
          <a:noFill/>
          <a:ln w="0">
            <a:noFill/>
            <a:prstDash val="solid"/>
          </a:ln>
        </p:spPr>
        <p:txBody>
          <a:bodyPr/>
          <a:lstStyle>
            <a:defPPr algn="ctr">
              <a:defRPr sz="2100" b="0">
                <a:solidFill>
                  <a:srgbClr val="292E31"/>
                </a:solidFill>
                <a:latin typeface="Calibri"/>
                <a:ea typeface="Calibri"/>
                <a:cs typeface="Calibri"/>
              </a:defRPr>
            </a:defPPr>
          </a:lstStyle>
          <a:p>
            <a:pPr algn="ctr">
              <a:defRPr sz="2100" b="0">
                <a:solidFill>
                  <a:srgbClr val="292E31"/>
                </a:solidFill>
                <a:latin typeface="Calibri"/>
                <a:ea typeface="Calibri"/>
                <a:cs typeface="Calibri"/>
              </a:defRPr>
            </a:pPr>
            <a:r>
              <a:rPr sz="2100" b="0" dirty="0">
                <a:solidFill>
                  <a:srgbClr val="292E31"/>
                </a:solidFill>
                <a:latin typeface="Calibri"/>
                <a:ea typeface="Calibri"/>
                <a:cs typeface="Calibri"/>
              </a:rPr>
              <a:t>Same 50 questions across four workflow versions</a:t>
            </a:r>
          </a:p>
        </p:txBody>
      </p:sp>
      <p:sp>
        <p:nvSpPr>
          <p:cNvPr id="9" name="Rectangle 8">
            <a:extLst>
              <a:ext uri="{FF2B5EF4-FFF2-40B4-BE49-F238E27FC236}">
                <a16:creationId xmlns:a16="http://schemas.microsoft.com/office/drawing/2014/main" id="{5E273832-2B8B-9C37-B9DC-BEF74C917AAB}"/>
              </a:ext>
            </a:extLst>
          </p:cNvPr>
          <p:cNvSpPr>
            <a:spLocks noGrp="1"/>
          </p:cNvSpPr>
          <p:nvPr/>
        </p:nvSpPr>
        <p:spPr>
          <a:xfrm>
            <a:off x="800100" y="5867400"/>
            <a:ext cx="10591800" cy="381000"/>
          </a:xfrm>
          <a:prstGeom prst="rect">
            <a:avLst/>
          </a:prstGeom>
          <a:noFill/>
          <a:ln w="0">
            <a:noFill/>
            <a:prstDash val="solid"/>
          </a:ln>
        </p:spPr>
        <p:txBody>
          <a:bodyPr/>
          <a:lstStyle>
            <a:defPPr algn="ctr">
              <a:defRPr sz="1725" b="0">
                <a:solidFill>
                  <a:srgbClr val="292E31"/>
                </a:solidFill>
                <a:latin typeface="Calibri"/>
                <a:ea typeface="Calibri"/>
                <a:cs typeface="Calibri"/>
              </a:defRPr>
            </a:defPPr>
          </a:lstStyle>
          <a:p>
            <a:pPr algn="ctr">
              <a:defRPr sz="1725" b="0">
                <a:solidFill>
                  <a:srgbClr val="292E31"/>
                </a:solidFill>
                <a:latin typeface="Calibri"/>
                <a:ea typeface="Calibri"/>
                <a:cs typeface="Calibri"/>
              </a:defRPr>
            </a:pPr>
            <a:r>
              <a:rPr lang="en-US" sz="1725" b="0" dirty="0">
                <a:solidFill>
                  <a:srgbClr val="292E31"/>
                </a:solidFill>
                <a:latin typeface="Calibri"/>
                <a:ea typeface="Calibri"/>
                <a:cs typeface="Calibri"/>
              </a:rPr>
              <a:t>Version 4 had best accuracy.</a:t>
            </a:r>
            <a:endParaRPr sz="1725" b="0" dirty="0">
              <a:solidFill>
                <a:srgbClr val="292E31"/>
              </a:solidFill>
              <a:latin typeface="Calibri"/>
              <a:ea typeface="Calibri"/>
              <a:cs typeface="Calibri"/>
            </a:endParaRPr>
          </a:p>
        </p:txBody>
      </p:sp>
    </p:spTree>
    <p:extLst>
      <p:ext uri="{BB962C8B-B14F-4D97-AF65-F5344CB8AC3E}">
        <p14:creationId xmlns:p14="http://schemas.microsoft.com/office/powerpoint/2010/main" val="1725571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69F2D1-E836-4541-92AC-F9C52043C007}"/>
              </a:ext>
            </a:extLst>
          </p:cNvPr>
          <p:cNvSpPr>
            <a:spLocks noGrp="1"/>
          </p:cNvSpPr>
          <p:nvPr/>
        </p:nvSpPr>
        <p:spPr>
          <a:xfrm>
            <a:off x="714375" y="458770"/>
            <a:ext cx="10763250" cy="523875"/>
          </a:xfrm>
          <a:prstGeom prst="rect">
            <a:avLst/>
          </a:prstGeom>
          <a:noFill/>
          <a:ln w="0">
            <a:noFill/>
            <a:prstDash val="solid"/>
          </a:ln>
        </p:spPr>
        <p:txBody>
          <a:bodyPr/>
          <a:lstStyle>
            <a:defPPr algn="ctr">
              <a:defRPr sz="2700" b="1">
                <a:solidFill>
                  <a:srgbClr val="A91D36"/>
                </a:solidFill>
                <a:latin typeface="Calibri"/>
                <a:ea typeface="Calibri"/>
                <a:cs typeface="Calibri"/>
              </a:defRPr>
            </a:defPPr>
          </a:lstStyle>
          <a:p>
            <a:pPr algn="ctr">
              <a:defRPr sz="2700" b="1">
                <a:solidFill>
                  <a:srgbClr val="A91D36"/>
                </a:solidFill>
                <a:latin typeface="Calibri"/>
                <a:ea typeface="Calibri"/>
                <a:cs typeface="Calibri"/>
              </a:defRPr>
            </a:pPr>
            <a:r>
              <a:rPr sz="2700" b="1" dirty="0">
                <a:solidFill>
                  <a:srgbClr val="A91D36"/>
                </a:solidFill>
                <a:latin typeface="Calibri"/>
                <a:ea typeface="Calibri"/>
                <a:cs typeface="Calibri"/>
              </a:rPr>
              <a:t>Cost and Latency Across Four Versions</a:t>
            </a:r>
          </a:p>
        </p:txBody>
      </p:sp>
      <p:sp>
        <p:nvSpPr>
          <p:cNvPr id="2" name="Rectangle 1">
            <a:extLst>
              <a:ext uri="{FF2B5EF4-FFF2-40B4-BE49-F238E27FC236}">
                <a16:creationId xmlns:a16="http://schemas.microsoft.com/office/drawing/2014/main" id="{E5C36AB7-0176-43CB-97E9-B164C4626BCD}"/>
              </a:ext>
            </a:extLst>
          </p:cNvPr>
          <p:cNvSpPr>
            <a:spLocks noGrp="1"/>
          </p:cNvSpPr>
          <p:nvPr/>
        </p:nvSpPr>
        <p:spPr>
          <a:xfrm>
            <a:off x="800100" y="6027559"/>
            <a:ext cx="10591800" cy="381000"/>
          </a:xfrm>
          <a:prstGeom prst="rect">
            <a:avLst/>
          </a:prstGeom>
          <a:noFill/>
          <a:ln w="0">
            <a:noFill/>
            <a:prstDash val="solid"/>
          </a:ln>
        </p:spPr>
        <p:txBody>
          <a:bodyPr/>
          <a:lstStyle>
            <a:defPPr algn="ctr">
              <a:defRPr sz="2100" b="1">
                <a:solidFill>
                  <a:srgbClr val="365C6B"/>
                </a:solidFill>
                <a:latin typeface="Calibri"/>
                <a:ea typeface="Calibri"/>
                <a:cs typeface="Calibri"/>
              </a:defRPr>
            </a:defPPr>
          </a:lstStyle>
          <a:p>
            <a:pPr algn="ctr">
              <a:defRPr sz="2100" b="1">
                <a:solidFill>
                  <a:srgbClr val="365C6B"/>
                </a:solidFill>
                <a:latin typeface="Calibri"/>
                <a:ea typeface="Calibri"/>
                <a:cs typeface="Calibri"/>
              </a:defRPr>
            </a:pPr>
            <a:r>
              <a:rPr lang="en-US" sz="2100" b="1" dirty="0">
                <a:solidFill>
                  <a:srgbClr val="365C6B"/>
                </a:solidFill>
                <a:latin typeface="Calibri"/>
                <a:ea typeface="Calibri"/>
                <a:cs typeface="Calibri"/>
              </a:rPr>
              <a:t>Aligned with p</a:t>
            </a:r>
            <a:r>
              <a:rPr sz="2100" b="1" dirty="0">
                <a:solidFill>
                  <a:srgbClr val="365C6B"/>
                </a:solidFill>
                <a:latin typeface="Calibri"/>
                <a:ea typeface="Calibri"/>
                <a:cs typeface="Calibri"/>
              </a:rPr>
              <a:t>riority order: accuracy first, cost second, latency third</a:t>
            </a:r>
          </a:p>
        </p:txBody>
      </p:sp>
      <p:sp>
        <p:nvSpPr>
          <p:cNvPr id="3" name="Rectangle 2">
            <a:extLst>
              <a:ext uri="{FF2B5EF4-FFF2-40B4-BE49-F238E27FC236}">
                <a16:creationId xmlns:a16="http://schemas.microsoft.com/office/drawing/2014/main" id="{993F0EC7-3681-4FAB-8FEA-36E7D1B6E333}"/>
              </a:ext>
            </a:extLst>
          </p:cNvPr>
          <p:cNvSpPr>
            <a:spLocks noGrp="1"/>
          </p:cNvSpPr>
          <p:nvPr/>
        </p:nvSpPr>
        <p:spPr>
          <a:xfrm>
            <a:off x="800100" y="1348620"/>
            <a:ext cx="5048250" cy="361950"/>
          </a:xfrm>
          <a:prstGeom prst="rect">
            <a:avLst/>
          </a:prstGeom>
          <a:noFill/>
          <a:ln w="0">
            <a:noFill/>
            <a:prstDash val="solid"/>
          </a:ln>
        </p:spPr>
        <p:txBody>
          <a:bodyPr/>
          <a:lstStyle>
            <a:defPPr algn="ctr">
              <a:defRPr sz="1950" b="1">
                <a:solidFill>
                  <a:srgbClr val="292E31"/>
                </a:solidFill>
                <a:latin typeface="Calibri"/>
                <a:ea typeface="Calibri"/>
                <a:cs typeface="Calibri"/>
              </a:defRPr>
            </a:defPPr>
          </a:lstStyle>
          <a:p>
            <a:pPr algn="ctr">
              <a:defRPr sz="1950" b="1">
                <a:solidFill>
                  <a:srgbClr val="292E31"/>
                </a:solidFill>
                <a:latin typeface="Calibri"/>
                <a:ea typeface="Calibri"/>
                <a:cs typeface="Calibri"/>
              </a:defRPr>
            </a:pPr>
            <a:r>
              <a:rPr sz="1950" b="1" dirty="0">
                <a:solidFill>
                  <a:srgbClr val="292E31"/>
                </a:solidFill>
                <a:latin typeface="Calibri"/>
                <a:ea typeface="Calibri"/>
                <a:cs typeface="Calibri"/>
              </a:rPr>
              <a:t>Mean cost (US cents per question)</a:t>
            </a:r>
          </a:p>
        </p:txBody>
      </p:sp>
      <p:graphicFrame>
        <p:nvGraphicFramePr>
          <p:cNvPr id="4" name="Chart">
            <a:extLst>
              <a:ext uri="{FF2B5EF4-FFF2-40B4-BE49-F238E27FC236}">
                <a16:creationId xmlns:a16="http://schemas.microsoft.com/office/drawing/2014/main" id="{EE7C1057-787B-4D01-9C66-BF81AEA3BD83}"/>
              </a:ext>
            </a:extLst>
          </p:cNvPr>
          <p:cNvGraphicFramePr/>
          <p:nvPr>
            <p:extLst>
              <p:ext uri="{D42A27DB-BD31-4B8C-83A1-F6EECF244321}">
                <p14:modId xmlns:p14="http://schemas.microsoft.com/office/powerpoint/2010/main" val="3579916973"/>
              </p:ext>
            </p:extLst>
          </p:nvPr>
        </p:nvGraphicFramePr>
        <p:xfrm>
          <a:off x="800100" y="1767720"/>
          <a:ext cx="5048250" cy="27813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31DB3284-8ED4-45A4-940A-5C0AFA4A1A0B}"/>
              </a:ext>
            </a:extLst>
          </p:cNvPr>
          <p:cNvSpPr>
            <a:spLocks noGrp="1"/>
          </p:cNvSpPr>
          <p:nvPr/>
        </p:nvSpPr>
        <p:spPr>
          <a:xfrm>
            <a:off x="6343650" y="1348620"/>
            <a:ext cx="5048250" cy="361950"/>
          </a:xfrm>
          <a:prstGeom prst="rect">
            <a:avLst/>
          </a:prstGeom>
          <a:noFill/>
          <a:ln w="0">
            <a:noFill/>
            <a:prstDash val="solid"/>
          </a:ln>
        </p:spPr>
        <p:txBody>
          <a:bodyPr/>
          <a:lstStyle>
            <a:defPPr algn="ctr">
              <a:defRPr sz="1950" b="1">
                <a:solidFill>
                  <a:srgbClr val="292E31"/>
                </a:solidFill>
                <a:latin typeface="Calibri"/>
                <a:ea typeface="Calibri"/>
                <a:cs typeface="Calibri"/>
              </a:defRPr>
            </a:defPPr>
          </a:lstStyle>
          <a:p>
            <a:pPr algn="ctr">
              <a:defRPr sz="1950" b="1">
                <a:solidFill>
                  <a:srgbClr val="292E31"/>
                </a:solidFill>
                <a:latin typeface="Calibri"/>
                <a:ea typeface="Calibri"/>
                <a:cs typeface="Calibri"/>
              </a:defRPr>
            </a:pPr>
            <a:r>
              <a:rPr sz="1950" b="1">
                <a:solidFill>
                  <a:srgbClr val="292E31"/>
                </a:solidFill>
                <a:latin typeface="Calibri"/>
                <a:ea typeface="Calibri"/>
                <a:cs typeface="Calibri"/>
              </a:rPr>
              <a:t>Median answer latency (seconds)</a:t>
            </a:r>
          </a:p>
        </p:txBody>
      </p:sp>
      <p:graphicFrame>
        <p:nvGraphicFramePr>
          <p:cNvPr id="6" name="Chart">
            <a:extLst>
              <a:ext uri="{FF2B5EF4-FFF2-40B4-BE49-F238E27FC236}">
                <a16:creationId xmlns:a16="http://schemas.microsoft.com/office/drawing/2014/main" id="{462BE786-D55F-4BED-A8B1-BECF89F13F60}"/>
              </a:ext>
            </a:extLst>
          </p:cNvPr>
          <p:cNvGraphicFramePr/>
          <p:nvPr>
            <p:extLst>
              <p:ext uri="{D42A27DB-BD31-4B8C-83A1-F6EECF244321}">
                <p14:modId xmlns:p14="http://schemas.microsoft.com/office/powerpoint/2010/main" val="2844187440"/>
              </p:ext>
            </p:extLst>
          </p:nvPr>
        </p:nvGraphicFramePr>
        <p:xfrm>
          <a:off x="6343650" y="1767720"/>
          <a:ext cx="5048250" cy="2781300"/>
        </p:xfrm>
        <a:graphic>
          <a:graphicData uri="http://schemas.openxmlformats.org/drawingml/2006/chart">
            <c:chart xmlns:c="http://schemas.openxmlformats.org/drawingml/2006/chart" xmlns:r="http://schemas.openxmlformats.org/officeDocument/2006/relationships" r:id="rId4"/>
          </a:graphicData>
        </a:graphic>
      </p:graphicFrame>
      <p:sp>
        <p:nvSpPr>
          <p:cNvPr id="8" name="Rectangle 7">
            <a:extLst>
              <a:ext uri="{FF2B5EF4-FFF2-40B4-BE49-F238E27FC236}">
                <a16:creationId xmlns:a16="http://schemas.microsoft.com/office/drawing/2014/main" id="{3A3053EC-12B4-4A83-BF92-6F3952CFAF70}"/>
              </a:ext>
            </a:extLst>
          </p:cNvPr>
          <p:cNvSpPr>
            <a:spLocks noGrp="1"/>
          </p:cNvSpPr>
          <p:nvPr/>
        </p:nvSpPr>
        <p:spPr>
          <a:xfrm>
            <a:off x="800100" y="5082420"/>
            <a:ext cx="10591800" cy="628650"/>
          </a:xfrm>
          <a:prstGeom prst="rect">
            <a:avLst/>
          </a:prstGeom>
          <a:noFill/>
          <a:ln w="0">
            <a:noFill/>
            <a:prstDash val="solid"/>
          </a:ln>
        </p:spPr>
        <p:txBody>
          <a:bodyPr/>
          <a:lstStyle>
            <a:defPPr algn="ctr">
              <a:defRPr sz="1725" b="0">
                <a:solidFill>
                  <a:srgbClr val="292E31"/>
                </a:solidFill>
                <a:latin typeface="Calibri"/>
                <a:ea typeface="Calibri"/>
                <a:cs typeface="Calibri"/>
              </a:defRPr>
            </a:defPPr>
          </a:lstStyle>
          <a:p>
            <a:pPr algn="ctr">
              <a:defRPr sz="1725" b="0">
                <a:solidFill>
                  <a:srgbClr val="292E31"/>
                </a:solidFill>
                <a:latin typeface="Calibri"/>
                <a:ea typeface="Calibri"/>
                <a:cs typeface="Calibri"/>
              </a:defRPr>
            </a:pPr>
            <a:r>
              <a:rPr sz="1725" b="0" dirty="0">
                <a:solidFill>
                  <a:srgbClr val="292E31"/>
                </a:solidFill>
                <a:latin typeface="Calibri"/>
                <a:ea typeface="Calibri"/>
                <a:cs typeface="Calibri"/>
              </a:rPr>
              <a:t>Design tradeoff: </a:t>
            </a:r>
            <a:r>
              <a:rPr lang="en-US" sz="1725" b="0" dirty="0">
                <a:solidFill>
                  <a:srgbClr val="292E31"/>
                </a:solidFill>
                <a:latin typeface="Calibri"/>
                <a:ea typeface="Calibri"/>
                <a:cs typeface="Calibri"/>
              </a:rPr>
              <a:t>Version 4 traded</a:t>
            </a:r>
            <a:r>
              <a:rPr sz="1725" b="0" dirty="0">
                <a:solidFill>
                  <a:srgbClr val="292E31"/>
                </a:solidFill>
                <a:latin typeface="Calibri"/>
                <a:ea typeface="Calibri"/>
                <a:cs typeface="Calibri"/>
              </a:rPr>
              <a:t> slower responses for </a:t>
            </a:r>
            <a:r>
              <a:rPr lang="en-US" sz="1725" b="0" dirty="0">
                <a:solidFill>
                  <a:srgbClr val="292E31"/>
                </a:solidFill>
                <a:latin typeface="Calibri"/>
                <a:ea typeface="Calibri"/>
                <a:cs typeface="Calibri"/>
              </a:rPr>
              <a:t>lower cost (and </a:t>
            </a:r>
            <a:r>
              <a:rPr sz="1725" b="0" dirty="0">
                <a:solidFill>
                  <a:srgbClr val="292E31"/>
                </a:solidFill>
                <a:latin typeface="Calibri"/>
                <a:ea typeface="Calibri"/>
                <a:cs typeface="Calibri"/>
              </a:rPr>
              <a:t>higher accuracy</a:t>
            </a:r>
            <a:r>
              <a:rPr lang="en-US" sz="1725" dirty="0">
                <a:solidFill>
                  <a:srgbClr val="292E31"/>
                </a:solidFill>
                <a:latin typeface="Calibri"/>
                <a:ea typeface="Calibri"/>
                <a:cs typeface="Calibri"/>
              </a:rPr>
              <a:t>)</a:t>
            </a:r>
            <a:endParaRPr sz="1725" b="0" dirty="0">
              <a:solidFill>
                <a:srgbClr val="292E31"/>
              </a:solidFill>
              <a:latin typeface="Calibri"/>
              <a:ea typeface="Calibri"/>
              <a:cs typeface="Calibri"/>
            </a:endParaRPr>
          </a:p>
        </p:txBody>
      </p:sp>
      <p:cxnSp>
        <p:nvCxnSpPr>
          <p:cNvPr id="11" name="Straight Arrow Connector 10">
            <a:extLst>
              <a:ext uri="{FF2B5EF4-FFF2-40B4-BE49-F238E27FC236}">
                <a16:creationId xmlns:a16="http://schemas.microsoft.com/office/drawing/2014/main" id="{53FA5698-FB05-BC9E-C378-81A71F1C3C36}"/>
              </a:ext>
            </a:extLst>
          </p:cNvPr>
          <p:cNvCxnSpPr>
            <a:stCxn id="8" idx="0"/>
          </p:cNvCxnSpPr>
          <p:nvPr/>
        </p:nvCxnSpPr>
        <p:spPr>
          <a:xfrm flipH="1" flipV="1">
            <a:off x="5467546" y="4364607"/>
            <a:ext cx="628454" cy="717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DC8E824-564A-D227-F5CD-9536A56A53F0}"/>
              </a:ext>
            </a:extLst>
          </p:cNvPr>
          <p:cNvCxnSpPr>
            <a:cxnSpLocks/>
            <a:stCxn id="8" idx="0"/>
          </p:cNvCxnSpPr>
          <p:nvPr/>
        </p:nvCxnSpPr>
        <p:spPr>
          <a:xfrm flipV="1">
            <a:off x="6096000" y="4364607"/>
            <a:ext cx="4348899" cy="717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1590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76CA6B-0A04-4CB4-A084-3AE9FE4B616C}"/>
              </a:ext>
            </a:extLst>
          </p:cNvPr>
          <p:cNvSpPr>
            <a:spLocks noGrp="1"/>
          </p:cNvSpPr>
          <p:nvPr/>
        </p:nvSpPr>
        <p:spPr>
          <a:xfrm>
            <a:off x="714375" y="609600"/>
            <a:ext cx="10763250" cy="523875"/>
          </a:xfrm>
          <a:prstGeom prst="rect">
            <a:avLst/>
          </a:prstGeom>
          <a:noFill/>
          <a:ln w="0">
            <a:noFill/>
            <a:prstDash val="solid"/>
          </a:ln>
        </p:spPr>
        <p:txBody>
          <a:bodyPr/>
          <a:lstStyle>
            <a:defPPr algn="ctr">
              <a:defRPr sz="2700" b="1">
                <a:solidFill>
                  <a:srgbClr val="A91D36"/>
                </a:solidFill>
                <a:latin typeface="Calibri"/>
                <a:ea typeface="Calibri"/>
                <a:cs typeface="Calibri"/>
              </a:defRPr>
            </a:defPPr>
          </a:lstStyle>
          <a:p>
            <a:pPr algn="ctr">
              <a:buNone/>
              <a:defRPr sz="2700" b="1">
                <a:solidFill>
                  <a:srgbClr val="A91D36"/>
                </a:solidFill>
                <a:latin typeface="Calibri"/>
                <a:ea typeface="Calibri"/>
                <a:cs typeface="Calibri"/>
              </a:defRPr>
            </a:pPr>
            <a:r>
              <a:rPr lang="en-US" sz="2700" b="1" dirty="0">
                <a:solidFill>
                  <a:srgbClr val="A91D36"/>
                </a:solidFill>
                <a:latin typeface="Calibri"/>
                <a:ea typeface="Calibri"/>
                <a:cs typeface="Calibri"/>
              </a:rPr>
              <a:t>More Details on Performance</a:t>
            </a:r>
            <a:endParaRPr sz="2700" b="1" dirty="0">
              <a:solidFill>
                <a:srgbClr val="A91D36"/>
              </a:solidFill>
              <a:latin typeface="Calibri"/>
              <a:ea typeface="Calibri"/>
              <a:cs typeface="Calibri"/>
            </a:endParaRPr>
          </a:p>
        </p:txBody>
      </p:sp>
      <p:graphicFrame>
        <p:nvGraphicFramePr>
          <p:cNvPr id="2" name="Table 1">
            <a:extLst>
              <a:ext uri="{FF2B5EF4-FFF2-40B4-BE49-F238E27FC236}">
                <a16:creationId xmlns:a16="http://schemas.microsoft.com/office/drawing/2014/main" id="{74AFED9B-5607-4AFC-85C7-DAF0634F168A}"/>
              </a:ext>
            </a:extLst>
          </p:cNvPr>
          <p:cNvGraphicFramePr/>
          <p:nvPr/>
        </p:nvGraphicFramePr>
        <p:xfrm>
          <a:off x="800100" y="1543050"/>
          <a:ext cx="10591800" cy="4171952"/>
        </p:xfrm>
        <a:graphic>
          <a:graphicData uri="http://schemas.openxmlformats.org/drawingml/2006/table">
            <a:tbl>
              <a:tblPr/>
              <a:tblGrid>
                <a:gridCol w="34290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gridCol w="1790700">
                  <a:extLst>
                    <a:ext uri="{9D8B030D-6E8A-4147-A177-3AD203B41FA5}">
                      <a16:colId xmlns:a16="http://schemas.microsoft.com/office/drawing/2014/main" val="20002"/>
                    </a:ext>
                  </a:extLst>
                </a:gridCol>
                <a:gridCol w="1790700">
                  <a:extLst>
                    <a:ext uri="{9D8B030D-6E8A-4147-A177-3AD203B41FA5}">
                      <a16:colId xmlns:a16="http://schemas.microsoft.com/office/drawing/2014/main" val="20003"/>
                    </a:ext>
                  </a:extLst>
                </a:gridCol>
                <a:gridCol w="1790700">
                  <a:extLst>
                    <a:ext uri="{9D8B030D-6E8A-4147-A177-3AD203B41FA5}">
                      <a16:colId xmlns:a16="http://schemas.microsoft.com/office/drawing/2014/main" val="20004"/>
                    </a:ext>
                  </a:extLst>
                </a:gridCol>
              </a:tblGrid>
              <a:tr h="521494">
                <a:tc>
                  <a:txBody>
                    <a:bodyPr/>
                    <a:lstStyle/>
                    <a:p>
                      <a:r>
                        <a:rPr sz="1800" b="1">
                          <a:solidFill>
                            <a:srgbClr val="FFFFFF"/>
                          </a:solidFill>
                          <a:latin typeface="Calibri"/>
                          <a:ea typeface="Calibri"/>
                          <a:cs typeface="Calibri"/>
                        </a:rPr>
                        <a:t>Measured across 50 questions</a:t>
                      </a:r>
                    </a:p>
                  </a:txBody>
                  <a:tcPr>
                    <a:lnL w="9525">
                      <a:solidFill>
                        <a:srgbClr val="E0E5E8"/>
                      </a:solidFill>
                      <a:prstDash val="soli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tc>
                  <a:txBody>
                    <a:bodyPr/>
                    <a:lstStyle/>
                    <a:p>
                      <a:r>
                        <a:rPr sz="1800" b="1">
                          <a:solidFill>
                            <a:srgbClr val="FFFFFF"/>
                          </a:solidFill>
                          <a:latin typeface="Calibri"/>
                          <a:ea typeface="Calibri"/>
                          <a:cs typeface="Calibri"/>
                        </a:rPr>
                        <a:t>V1</a:t>
                      </a:r>
                    </a:p>
                  </a:txBody>
                  <a:tcPr>
                    <a:lnL w="9525" cap="flat" cmpd="sng" algn="ctr">
                      <a:solidFill>
                        <a:srgbClr val="E0E5E8"/>
                      </a:solidFill>
                      <a:prstDash val="solid"/>
                      <a:round/>
                      <a:headEnd type="none" w="med" len="med"/>
                      <a:tailEnd type="none" w="med" len="me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tc>
                  <a:txBody>
                    <a:bodyPr/>
                    <a:lstStyle/>
                    <a:p>
                      <a:r>
                        <a:rPr sz="1800" b="1">
                          <a:solidFill>
                            <a:srgbClr val="FFFFFF"/>
                          </a:solidFill>
                          <a:latin typeface="Calibri"/>
                          <a:ea typeface="Calibri"/>
                          <a:cs typeface="Calibri"/>
                        </a:rPr>
                        <a:t>V2</a:t>
                      </a:r>
                    </a:p>
                  </a:txBody>
                  <a:tcPr>
                    <a:lnL w="9525" cap="flat" cmpd="sng" algn="ctr">
                      <a:solidFill>
                        <a:srgbClr val="E0E5E8"/>
                      </a:solidFill>
                      <a:prstDash val="solid"/>
                      <a:round/>
                      <a:headEnd type="none" w="med" len="med"/>
                      <a:tailEnd type="none" w="med" len="me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tc>
                  <a:txBody>
                    <a:bodyPr/>
                    <a:lstStyle/>
                    <a:p>
                      <a:r>
                        <a:rPr sz="1800" b="1">
                          <a:solidFill>
                            <a:srgbClr val="FFFFFF"/>
                          </a:solidFill>
                          <a:latin typeface="Calibri"/>
                          <a:ea typeface="Calibri"/>
                          <a:cs typeface="Calibri"/>
                        </a:rPr>
                        <a:t>V3</a:t>
                      </a:r>
                    </a:p>
                  </a:txBody>
                  <a:tcPr>
                    <a:lnL w="9525" cap="flat" cmpd="sng" algn="ctr">
                      <a:solidFill>
                        <a:srgbClr val="E0E5E8"/>
                      </a:solidFill>
                      <a:prstDash val="solid"/>
                      <a:round/>
                      <a:headEnd type="none" w="med" len="med"/>
                      <a:tailEnd type="none" w="med" len="me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tc>
                  <a:txBody>
                    <a:bodyPr/>
                    <a:lstStyle/>
                    <a:p>
                      <a:r>
                        <a:rPr sz="1800" b="1">
                          <a:solidFill>
                            <a:srgbClr val="FFFFFF"/>
                          </a:solidFill>
                          <a:latin typeface="Calibri"/>
                          <a:ea typeface="Calibri"/>
                          <a:cs typeface="Calibri"/>
                        </a:rPr>
                        <a:t>V4</a:t>
                      </a:r>
                    </a:p>
                  </a:txBody>
                  <a:tcPr>
                    <a:lnL w="9525" cap="flat" cmpd="sng" algn="ctr">
                      <a:solidFill>
                        <a:srgbClr val="E0E5E8"/>
                      </a:solidFill>
                      <a:prstDash val="solid"/>
                      <a:round/>
                      <a:headEnd type="none" w="med" len="med"/>
                      <a:tailEnd type="none" w="med" len="me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extLst>
                  <a:ext uri="{0D108BD9-81ED-4DB2-BD59-A6C34878D82A}">
                    <a16:rowId xmlns:a16="http://schemas.microsoft.com/office/drawing/2014/main" val="10000"/>
                  </a:ext>
                </a:extLst>
              </a:tr>
              <a:tr h="521494">
                <a:tc>
                  <a:txBody>
                    <a:bodyPr/>
                    <a:lstStyle/>
                    <a:p>
                      <a:r>
                        <a:rPr sz="1800" b="0">
                          <a:solidFill>
                            <a:srgbClr val="292E31"/>
                          </a:solidFill>
                          <a:latin typeface="Calibri"/>
                          <a:ea typeface="Calibri"/>
                          <a:cs typeface="Calibri"/>
                        </a:rPr>
                        <a:t>Answering LLM calls</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60</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188</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159</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151</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1"/>
                  </a:ext>
                </a:extLst>
              </a:tr>
              <a:tr h="521494">
                <a:tc>
                  <a:txBody>
                    <a:bodyPr/>
                    <a:lstStyle/>
                    <a:p>
                      <a:r>
                        <a:rPr sz="1800" b="0">
                          <a:solidFill>
                            <a:srgbClr val="292E31"/>
                          </a:solidFill>
                          <a:latin typeface="Calibri"/>
                          <a:ea typeface="Calibri"/>
                          <a:cs typeface="Calibri"/>
                        </a:rPr>
                        <a:t>Mean calls per question</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1.20</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3.76</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3.18</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3.02</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2"/>
                  </a:ext>
                </a:extLst>
              </a:tr>
              <a:tr h="521494">
                <a:tc>
                  <a:txBody>
                    <a:bodyPr/>
                    <a:lstStyle/>
                    <a:p>
                      <a:r>
                        <a:rPr sz="1800" b="0">
                          <a:solidFill>
                            <a:srgbClr val="292E31"/>
                          </a:solidFill>
                          <a:latin typeface="Calibri"/>
                          <a:ea typeface="Calibri"/>
                          <a:cs typeface="Calibri"/>
                        </a:rPr>
                        <a:t>LLM input tokens</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191,545</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936,516</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788,451</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759,462</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3"/>
                  </a:ext>
                </a:extLst>
              </a:tr>
              <a:tr h="521494">
                <a:tc>
                  <a:txBody>
                    <a:bodyPr/>
                    <a:lstStyle/>
                    <a:p>
                      <a:r>
                        <a:rPr sz="1800" b="0">
                          <a:solidFill>
                            <a:srgbClr val="292E31"/>
                          </a:solidFill>
                          <a:latin typeface="Calibri"/>
                          <a:ea typeface="Calibri"/>
                          <a:cs typeface="Calibri"/>
                        </a:rPr>
                        <a:t>LLM output tokens</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12,509</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43,973</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16,075</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15,808</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4"/>
                  </a:ext>
                </a:extLst>
              </a:tr>
              <a:tr h="521494">
                <a:tc>
                  <a:txBody>
                    <a:bodyPr/>
                    <a:lstStyle/>
                    <a:p>
                      <a:r>
                        <a:rPr sz="1800" b="0">
                          <a:solidFill>
                            <a:srgbClr val="292E31"/>
                          </a:solidFill>
                          <a:latin typeface="Calibri"/>
                          <a:ea typeface="Calibri"/>
                          <a:cs typeface="Calibri"/>
                        </a:rPr>
                        <a:t>Query embedding tokens</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1,267</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2,778</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3,001</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2,943</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5"/>
                  </a:ext>
                </a:extLst>
              </a:tr>
              <a:tr h="521494">
                <a:tc>
                  <a:txBody>
                    <a:bodyPr/>
                    <a:lstStyle/>
                    <a:p>
                      <a:r>
                        <a:rPr sz="1800" b="0">
                          <a:solidFill>
                            <a:srgbClr val="292E31"/>
                          </a:solidFill>
                          <a:latin typeface="Calibri"/>
                          <a:ea typeface="Calibri"/>
                          <a:cs typeface="Calibri"/>
                        </a:rPr>
                        <a:t>Expected-article recall</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94.2%</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98.5%</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100.0%</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100.0%</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6"/>
                  </a:ext>
                </a:extLst>
              </a:tr>
              <a:tr h="521494">
                <a:tc>
                  <a:txBody>
                    <a:bodyPr/>
                    <a:lstStyle/>
                    <a:p>
                      <a:r>
                        <a:rPr sz="1800" b="0">
                          <a:solidFill>
                            <a:srgbClr val="292E31"/>
                          </a:solidFill>
                          <a:latin typeface="Calibri"/>
                          <a:ea typeface="Calibri"/>
                          <a:cs typeface="Calibri"/>
                        </a:rPr>
                        <a:t>Processing errors</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3</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1</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0</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800" b="0">
                          <a:solidFill>
                            <a:srgbClr val="292E31"/>
                          </a:solidFill>
                          <a:latin typeface="Calibri"/>
                          <a:ea typeface="Calibri"/>
                          <a:cs typeface="Calibri"/>
                        </a:rPr>
                        <a:t>0</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Arrow: Down 4">
            <a:extLst>
              <a:ext uri="{FF2B5EF4-FFF2-40B4-BE49-F238E27FC236}">
                <a16:creationId xmlns:a16="http://schemas.microsoft.com/office/drawing/2014/main" id="{25F8587C-ACB9-847E-1030-3C869DB2EB6A}"/>
              </a:ext>
            </a:extLst>
          </p:cNvPr>
          <p:cNvSpPr/>
          <p:nvPr/>
        </p:nvSpPr>
        <p:spPr>
          <a:xfrm rot="10800000">
            <a:off x="10086681" y="5436911"/>
            <a:ext cx="301658" cy="55618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759BB2F-2E49-E287-D29A-8FAF4C9F6A16}"/>
              </a:ext>
            </a:extLst>
          </p:cNvPr>
          <p:cNvSpPr txBox="1"/>
          <p:nvPr/>
        </p:nvSpPr>
        <p:spPr>
          <a:xfrm>
            <a:off x="8493551" y="6124577"/>
            <a:ext cx="3487917" cy="307777"/>
          </a:xfrm>
          <a:prstGeom prst="rect">
            <a:avLst/>
          </a:prstGeom>
          <a:noFill/>
        </p:spPr>
        <p:txBody>
          <a:bodyPr wrap="square" rtlCol="0">
            <a:spAutoFit/>
          </a:bodyPr>
          <a:lstStyle/>
          <a:p>
            <a:pPr algn="ctr"/>
            <a:r>
              <a:rPr lang="en-US" dirty="0"/>
              <a:t>Best performance given stated priorities</a:t>
            </a:r>
          </a:p>
        </p:txBody>
      </p:sp>
    </p:spTree>
    <p:extLst>
      <p:ext uri="{BB962C8B-B14F-4D97-AF65-F5344CB8AC3E}">
        <p14:creationId xmlns:p14="http://schemas.microsoft.com/office/powerpoint/2010/main" val="119972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20C554-577A-4A52-BD4B-6B58C5F2D0B4}"/>
              </a:ext>
            </a:extLst>
          </p:cNvPr>
          <p:cNvSpPr>
            <a:spLocks noGrp="1"/>
          </p:cNvSpPr>
          <p:nvPr/>
        </p:nvSpPr>
        <p:spPr>
          <a:xfrm>
            <a:off x="714375" y="609600"/>
            <a:ext cx="10763250" cy="523875"/>
          </a:xfrm>
          <a:prstGeom prst="rect">
            <a:avLst/>
          </a:prstGeom>
          <a:noFill/>
          <a:ln w="0">
            <a:noFill/>
            <a:prstDash val="solid"/>
          </a:ln>
        </p:spPr>
        <p:txBody>
          <a:bodyPr/>
          <a:lstStyle>
            <a:defPPr algn="ctr">
              <a:defRPr sz="2700" b="1">
                <a:solidFill>
                  <a:srgbClr val="A91D36"/>
                </a:solidFill>
                <a:latin typeface="Calibri"/>
                <a:ea typeface="Calibri"/>
                <a:cs typeface="Calibri"/>
              </a:defRPr>
            </a:defPPr>
          </a:lstStyle>
          <a:p>
            <a:pPr algn="ctr">
              <a:buNone/>
              <a:defRPr sz="2700" b="1">
                <a:solidFill>
                  <a:srgbClr val="A91D36"/>
                </a:solidFill>
                <a:latin typeface="Calibri"/>
                <a:ea typeface="Calibri"/>
                <a:cs typeface="Calibri"/>
              </a:defRPr>
            </a:pPr>
            <a:r>
              <a:rPr sz="2700" b="1">
                <a:solidFill>
                  <a:srgbClr val="A91D36"/>
                </a:solidFill>
                <a:latin typeface="Calibri"/>
                <a:ea typeface="Calibri"/>
                <a:cs typeface="Calibri"/>
              </a:rPr>
              <a:t>Accuracy by Question Type</a:t>
            </a:r>
          </a:p>
        </p:txBody>
      </p:sp>
      <p:graphicFrame>
        <p:nvGraphicFramePr>
          <p:cNvPr id="2" name="Table 1">
            <a:extLst>
              <a:ext uri="{FF2B5EF4-FFF2-40B4-BE49-F238E27FC236}">
                <a16:creationId xmlns:a16="http://schemas.microsoft.com/office/drawing/2014/main" id="{0B0D4F98-194F-4252-B0F4-E298750A92FF}"/>
              </a:ext>
            </a:extLst>
          </p:cNvPr>
          <p:cNvGraphicFramePr/>
          <p:nvPr/>
        </p:nvGraphicFramePr>
        <p:xfrm>
          <a:off x="800100" y="1714500"/>
          <a:ext cx="10591800" cy="3571875"/>
        </p:xfrm>
        <a:graphic>
          <a:graphicData uri="http://schemas.openxmlformats.org/drawingml/2006/table">
            <a:tbl>
              <a:tblPr/>
              <a:tblGrid>
                <a:gridCol w="34290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gridCol w="1790700">
                  <a:extLst>
                    <a:ext uri="{9D8B030D-6E8A-4147-A177-3AD203B41FA5}">
                      <a16:colId xmlns:a16="http://schemas.microsoft.com/office/drawing/2014/main" val="20002"/>
                    </a:ext>
                  </a:extLst>
                </a:gridCol>
                <a:gridCol w="1790700">
                  <a:extLst>
                    <a:ext uri="{9D8B030D-6E8A-4147-A177-3AD203B41FA5}">
                      <a16:colId xmlns:a16="http://schemas.microsoft.com/office/drawing/2014/main" val="20003"/>
                    </a:ext>
                  </a:extLst>
                </a:gridCol>
                <a:gridCol w="1790700">
                  <a:extLst>
                    <a:ext uri="{9D8B030D-6E8A-4147-A177-3AD203B41FA5}">
                      <a16:colId xmlns:a16="http://schemas.microsoft.com/office/drawing/2014/main" val="20004"/>
                    </a:ext>
                  </a:extLst>
                </a:gridCol>
              </a:tblGrid>
              <a:tr h="714375">
                <a:tc>
                  <a:txBody>
                    <a:bodyPr/>
                    <a:lstStyle/>
                    <a:p>
                      <a:r>
                        <a:rPr sz="1950" b="1">
                          <a:solidFill>
                            <a:srgbClr val="FFFFFF"/>
                          </a:solidFill>
                          <a:latin typeface="Calibri"/>
                          <a:ea typeface="Calibri"/>
                          <a:cs typeface="Calibri"/>
                        </a:rPr>
                        <a:t>Question type</a:t>
                      </a:r>
                    </a:p>
                  </a:txBody>
                  <a:tcPr>
                    <a:lnL w="9525">
                      <a:solidFill>
                        <a:srgbClr val="E0E5E8"/>
                      </a:solidFill>
                      <a:prstDash val="soli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tc>
                  <a:txBody>
                    <a:bodyPr/>
                    <a:lstStyle/>
                    <a:p>
                      <a:r>
                        <a:rPr sz="1950" b="1">
                          <a:solidFill>
                            <a:srgbClr val="FFFFFF"/>
                          </a:solidFill>
                          <a:latin typeface="Calibri"/>
                          <a:ea typeface="Calibri"/>
                          <a:cs typeface="Calibri"/>
                        </a:rPr>
                        <a:t>V1</a:t>
                      </a:r>
                    </a:p>
                  </a:txBody>
                  <a:tcPr>
                    <a:lnL w="9525" cap="flat" cmpd="sng" algn="ctr">
                      <a:solidFill>
                        <a:srgbClr val="E0E5E8"/>
                      </a:solidFill>
                      <a:prstDash val="solid"/>
                      <a:round/>
                      <a:headEnd type="none" w="med" len="med"/>
                      <a:tailEnd type="none" w="med" len="me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tc>
                  <a:txBody>
                    <a:bodyPr/>
                    <a:lstStyle/>
                    <a:p>
                      <a:r>
                        <a:rPr sz="1950" b="1">
                          <a:solidFill>
                            <a:srgbClr val="FFFFFF"/>
                          </a:solidFill>
                          <a:latin typeface="Calibri"/>
                          <a:ea typeface="Calibri"/>
                          <a:cs typeface="Calibri"/>
                        </a:rPr>
                        <a:t>V2</a:t>
                      </a:r>
                    </a:p>
                  </a:txBody>
                  <a:tcPr>
                    <a:lnL w="9525" cap="flat" cmpd="sng" algn="ctr">
                      <a:solidFill>
                        <a:srgbClr val="E0E5E8"/>
                      </a:solidFill>
                      <a:prstDash val="solid"/>
                      <a:round/>
                      <a:headEnd type="none" w="med" len="med"/>
                      <a:tailEnd type="none" w="med" len="me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tc>
                  <a:txBody>
                    <a:bodyPr/>
                    <a:lstStyle/>
                    <a:p>
                      <a:r>
                        <a:rPr sz="1950" b="1">
                          <a:solidFill>
                            <a:srgbClr val="FFFFFF"/>
                          </a:solidFill>
                          <a:latin typeface="Calibri"/>
                          <a:ea typeface="Calibri"/>
                          <a:cs typeface="Calibri"/>
                        </a:rPr>
                        <a:t>V3</a:t>
                      </a:r>
                    </a:p>
                  </a:txBody>
                  <a:tcPr>
                    <a:lnL w="9525" cap="flat" cmpd="sng" algn="ctr">
                      <a:solidFill>
                        <a:srgbClr val="E0E5E8"/>
                      </a:solidFill>
                      <a:prstDash val="solid"/>
                      <a:round/>
                      <a:headEnd type="none" w="med" len="med"/>
                      <a:tailEnd type="none" w="med" len="me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tc>
                  <a:txBody>
                    <a:bodyPr/>
                    <a:lstStyle/>
                    <a:p>
                      <a:r>
                        <a:rPr sz="1950" b="1">
                          <a:solidFill>
                            <a:srgbClr val="FFFFFF"/>
                          </a:solidFill>
                          <a:latin typeface="Calibri"/>
                          <a:ea typeface="Calibri"/>
                          <a:cs typeface="Calibri"/>
                        </a:rPr>
                        <a:t>V4</a:t>
                      </a:r>
                    </a:p>
                  </a:txBody>
                  <a:tcPr>
                    <a:lnL w="9525" cap="flat" cmpd="sng" algn="ctr">
                      <a:solidFill>
                        <a:srgbClr val="E0E5E8"/>
                      </a:solidFill>
                      <a:prstDash val="solid"/>
                      <a:round/>
                      <a:headEnd type="none" w="med" len="med"/>
                      <a:tailEnd type="none" w="med" len="med"/>
                    </a:lnL>
                    <a:lnR w="9525">
                      <a:solidFill>
                        <a:srgbClr val="E0E5E8"/>
                      </a:solidFill>
                      <a:prstDash val="solid"/>
                    </a:lnR>
                    <a:lnT w="9525">
                      <a:solidFill>
                        <a:srgbClr val="E0E5E8"/>
                      </a:solidFill>
                      <a:prstDash val="solid"/>
                    </a:lnT>
                    <a:lnB w="9525">
                      <a:solidFill>
                        <a:srgbClr val="E0E5E8"/>
                      </a:solidFill>
                      <a:prstDash val="solid"/>
                    </a:lnB>
                    <a:solidFill>
                      <a:srgbClr val="365C6B"/>
                    </a:solidFill>
                  </a:tcPr>
                </a:tc>
                <a:extLst>
                  <a:ext uri="{0D108BD9-81ED-4DB2-BD59-A6C34878D82A}">
                    <a16:rowId xmlns:a16="http://schemas.microsoft.com/office/drawing/2014/main" val="10000"/>
                  </a:ext>
                </a:extLst>
              </a:tr>
              <a:tr h="714375">
                <a:tc>
                  <a:txBody>
                    <a:bodyPr/>
                    <a:lstStyle/>
                    <a:p>
                      <a:r>
                        <a:rPr sz="1950" b="0">
                          <a:solidFill>
                            <a:srgbClr val="292E31"/>
                          </a:solidFill>
                          <a:latin typeface="Calibri"/>
                          <a:ea typeface="Calibri"/>
                          <a:cs typeface="Calibri"/>
                        </a:rPr>
                        <a:t>Single article (33)</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29 / 33</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31 / 33</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29 / 33</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31 / 33</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1"/>
                  </a:ext>
                </a:extLst>
              </a:tr>
              <a:tr h="714375">
                <a:tc>
                  <a:txBody>
                    <a:bodyPr/>
                    <a:lstStyle/>
                    <a:p>
                      <a:r>
                        <a:rPr sz="1950" b="0">
                          <a:solidFill>
                            <a:srgbClr val="292E31"/>
                          </a:solidFill>
                          <a:latin typeface="Calibri"/>
                          <a:ea typeface="Calibri"/>
                          <a:cs typeface="Calibri"/>
                        </a:rPr>
                        <a:t>Multiple articles (16)</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9 / 16</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11 / 16</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16 / 16</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15 / 16</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2"/>
                  </a:ext>
                </a:extLst>
              </a:tr>
              <a:tr h="714375">
                <a:tc>
                  <a:txBody>
                    <a:bodyPr/>
                    <a:lstStyle/>
                    <a:p>
                      <a:r>
                        <a:rPr sz="1950" b="0">
                          <a:solidFill>
                            <a:srgbClr val="292E31"/>
                          </a:solidFill>
                          <a:latin typeface="Calibri"/>
                          <a:ea typeface="Calibri"/>
                          <a:cs typeface="Calibri"/>
                        </a:rPr>
                        <a:t>Unanswerable (1)</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1 / 1</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1 / 1</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1 / 1</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1 / 1</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3"/>
                  </a:ext>
                </a:extLst>
              </a:tr>
              <a:tr h="714375">
                <a:tc>
                  <a:txBody>
                    <a:bodyPr/>
                    <a:lstStyle/>
                    <a:p>
                      <a:r>
                        <a:rPr sz="1950" b="0">
                          <a:solidFill>
                            <a:srgbClr val="292E31"/>
                          </a:solidFill>
                          <a:latin typeface="Calibri"/>
                          <a:ea typeface="Calibri"/>
                          <a:cs typeface="Calibri"/>
                        </a:rPr>
                        <a:t>Total (50)</a:t>
                      </a:r>
                    </a:p>
                  </a:txBody>
                  <a:tcPr>
                    <a:lnL w="9525">
                      <a:solidFill>
                        <a:srgbClr val="E0E5E8"/>
                      </a:solidFill>
                      <a:prstDash val="soli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39 / 50</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43 / 50</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46 / 50</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tc>
                  <a:txBody>
                    <a:bodyPr/>
                    <a:lstStyle/>
                    <a:p>
                      <a:r>
                        <a:rPr sz="1950" b="0">
                          <a:solidFill>
                            <a:srgbClr val="292E31"/>
                          </a:solidFill>
                          <a:latin typeface="Calibri"/>
                          <a:ea typeface="Calibri"/>
                          <a:cs typeface="Calibri"/>
                        </a:rPr>
                        <a:t>47 / 50</a:t>
                      </a:r>
                    </a:p>
                  </a:txBody>
                  <a:tcPr>
                    <a:lnL w="9525" cap="flat" cmpd="sng" algn="ctr">
                      <a:solidFill>
                        <a:srgbClr val="E0E5E8"/>
                      </a:solidFill>
                      <a:prstDash val="solid"/>
                      <a:round/>
                      <a:headEnd type="none" w="med" len="med"/>
                      <a:tailEnd type="none" w="med" len="med"/>
                    </a:lnL>
                    <a:lnR w="9525">
                      <a:solidFill>
                        <a:srgbClr val="E0E5E8"/>
                      </a:solidFill>
                      <a:prstDash val="solid"/>
                    </a:lnR>
                    <a:lnT w="9525" cap="flat" cmpd="sng" algn="ctr">
                      <a:solidFill>
                        <a:srgbClr val="E0E5E8"/>
                      </a:solidFill>
                      <a:prstDash val="solid"/>
                      <a:round/>
                      <a:headEnd type="none" w="med" len="med"/>
                      <a:tailEnd type="none" w="med" len="med"/>
                    </a:lnT>
                    <a:lnB w="9525">
                      <a:solidFill>
                        <a:srgbClr val="E0E5E8"/>
                      </a:solidFill>
                      <a:prstDash val="soli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25571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3F3F64E-BE4D-D3DF-57D5-BF67AE1E9EDD}"/>
              </a:ext>
            </a:extLst>
          </p:cNvPr>
          <p:cNvSpPr>
            <a:spLocks noGrp="1"/>
          </p:cNvSpPr>
          <p:nvPr/>
        </p:nvSpPr>
        <p:spPr>
          <a:xfrm>
            <a:off x="714375" y="609600"/>
            <a:ext cx="10763250" cy="518160"/>
          </a:xfrm>
          <a:prstGeom prst="rect">
            <a:avLst/>
          </a:prstGeom>
          <a:noFill/>
        </p:spPr>
        <p:txBody>
          <a:bodyPr wrap="square" lIns="0" tIns="0" rIns="0" bIns="0">
            <a:noAutofit/>
          </a:bodyPr>
          <a:lstStyle>
            <a:defPPr algn="ctr">
              <a:defRPr sz="2800" b="1">
                <a:solidFill>
                  <a:srgbClr val="A31F34"/>
                </a:solidFill>
                <a:latin typeface="Calibri"/>
                <a:ea typeface="Calibri"/>
                <a:cs typeface="Calibri"/>
              </a:defRPr>
            </a:defPPr>
          </a:lstStyle>
          <a:p>
            <a:pPr algn="ctr">
              <a:buNone/>
              <a:defRPr sz="2800" b="1">
                <a:solidFill>
                  <a:srgbClr val="A31F34"/>
                </a:solidFill>
                <a:latin typeface="Calibri"/>
                <a:ea typeface="Calibri"/>
                <a:cs typeface="Calibri"/>
              </a:defRPr>
            </a:pPr>
            <a:r>
              <a:rPr lang="en-US" sz="2800" b="1" dirty="0">
                <a:solidFill>
                  <a:srgbClr val="A31F34"/>
                </a:solidFill>
                <a:latin typeface="Calibri"/>
                <a:ea typeface="Calibri"/>
                <a:cs typeface="Calibri"/>
              </a:rPr>
              <a:t>Limitations and Future Improvements</a:t>
            </a:r>
            <a:endParaRPr sz="2800" b="1" dirty="0">
              <a:solidFill>
                <a:srgbClr val="A31F34"/>
              </a:solidFill>
              <a:latin typeface="Calibri"/>
              <a:ea typeface="Calibri"/>
              <a:cs typeface="Calibri"/>
            </a:endParaRPr>
          </a:p>
        </p:txBody>
      </p:sp>
      <p:sp>
        <p:nvSpPr>
          <p:cNvPr id="10" name="Not supplied">
            <a:extLst>
              <a:ext uri="{FF2B5EF4-FFF2-40B4-BE49-F238E27FC236}">
                <a16:creationId xmlns:a16="http://schemas.microsoft.com/office/drawing/2014/main" id="{CFDB2ACF-2C98-45C7-B2F9-AA10E2A9F3E6}"/>
              </a:ext>
            </a:extLst>
          </p:cNvPr>
          <p:cNvSpPr>
            <a:spLocks noGrp="1"/>
          </p:cNvSpPr>
          <p:nvPr/>
        </p:nvSpPr>
        <p:spPr>
          <a:xfrm>
            <a:off x="800100" y="1743075"/>
            <a:ext cx="4762500" cy="428625"/>
          </a:xfrm>
          <a:prstGeom prst="rect">
            <a:avLst/>
          </a:prstGeom>
          <a:noFill/>
          <a:ln w="0">
            <a:noFill/>
            <a:prstDash val="solid"/>
          </a:ln>
        </p:spPr>
        <p:txBody>
          <a:bodyPr lIns="0" tIns="0" rIns="0" bIns="0" anchor="t">
            <a:noAutofit/>
          </a:bodyPr>
          <a:lstStyle>
            <a:defPPr algn="l">
              <a:defRPr sz="2250" b="1">
                <a:solidFill>
                  <a:srgbClr val="A31F34"/>
                </a:solidFill>
                <a:latin typeface="Calibri"/>
                <a:ea typeface="Calibri"/>
                <a:cs typeface="Calibri"/>
              </a:defRPr>
            </a:defPPr>
          </a:lstStyle>
          <a:p>
            <a:pPr algn="l">
              <a:buNone/>
              <a:defRPr sz="2250" b="1">
                <a:solidFill>
                  <a:srgbClr val="A31F34"/>
                </a:solidFill>
                <a:latin typeface="Calibri"/>
                <a:ea typeface="Calibri"/>
                <a:cs typeface="Calibri"/>
              </a:defRPr>
            </a:pPr>
            <a:r>
              <a:rPr sz="2250" b="1">
                <a:solidFill>
                  <a:srgbClr val="A31F34"/>
                </a:solidFill>
                <a:latin typeface="Calibri"/>
                <a:ea typeface="Calibri"/>
                <a:cs typeface="Calibri"/>
              </a:rPr>
              <a:t>Observed gaps</a:t>
            </a:r>
          </a:p>
        </p:txBody>
      </p:sp>
      <mc:AlternateContent xmlns:mc="http://schemas.openxmlformats.org/markup-compatibility/2006" xmlns:a14="http://schemas.microsoft.com/office/drawing/2010/main">
        <mc:Choice Requires="a14">
          <p:sp>
            <p:nvSpPr>
              <p:cNvPr id="11" name="Current full evaluation report and test set&#10;&#10;">
                <a:extLst>
                  <a:ext uri="{FF2B5EF4-FFF2-40B4-BE49-F238E27FC236}">
                    <a16:creationId xmlns:a16="http://schemas.microsoft.com/office/drawing/2014/main" id="{70ED31AD-0AB2-4211-8985-1A18F5B8494B}"/>
                  </a:ext>
                </a:extLst>
              </p:cNvPr>
              <p:cNvSpPr>
                <a:spLocks noGrp="1"/>
              </p:cNvSpPr>
              <p:nvPr/>
            </p:nvSpPr>
            <p:spPr>
              <a:xfrm>
                <a:off x="800099" y="2476500"/>
                <a:ext cx="4422349" cy="2809875"/>
              </a:xfrm>
              <a:prstGeom prst="rect">
                <a:avLst/>
              </a:prstGeom>
              <a:noFill/>
              <a:ln w="0">
                <a:noFill/>
                <a:prstDash val="solid"/>
              </a:ln>
            </p:spPr>
            <p:txBody>
              <a:bodyPr lIns="0" tIns="0" rIns="0" bIns="0" anchor="t">
                <a:noAutofit/>
              </a:bodyPr>
              <a:lstStyle>
                <a:defPPr algn="l">
                  <a:defRPr sz="2025" b="0">
                    <a:solidFill>
                      <a:srgbClr val="202428"/>
                    </a:solidFill>
                    <a:latin typeface="Calibri"/>
                    <a:ea typeface="Calibri"/>
                    <a:cs typeface="Calibri"/>
                  </a:defRPr>
                </a:defPPr>
              </a:lstStyle>
              <a:p>
                <a:pPr marL="342900" indent="-342900" algn="l">
                  <a:spcBef>
                    <a:spcPts val="1200"/>
                  </a:spcBef>
                  <a:buFont typeface="Arial" panose="020B0604020202020204" pitchFamily="34" charset="0"/>
                  <a:buChar char="•"/>
                  <a:defRPr sz="2025" b="0">
                    <a:solidFill>
                      <a:srgbClr val="202428"/>
                    </a:solidFill>
                    <a:latin typeface="Calibri"/>
                    <a:ea typeface="Calibri"/>
                    <a:cs typeface="Calibri"/>
                  </a:defRPr>
                </a:pPr>
                <a:r>
                  <a:rPr lang="en-US" sz="2025" b="0" dirty="0">
                    <a:solidFill>
                      <a:srgbClr val="202428"/>
                    </a:solidFill>
                    <a:latin typeface="Calibri"/>
                    <a:ea typeface="Calibri"/>
                    <a:cs typeface="Calibri"/>
                  </a:rPr>
                  <a:t>94% accuracy is not ideal. Would be nice to have something closer to 100%</a:t>
                </a:r>
              </a:p>
              <a:p>
                <a:pPr marL="342900" indent="-342900" algn="l">
                  <a:spcBef>
                    <a:spcPts val="1200"/>
                  </a:spcBef>
                  <a:buFont typeface="Arial" panose="020B0604020202020204" pitchFamily="34" charset="0"/>
                  <a:buChar char="•"/>
                  <a:defRPr sz="2025" b="0">
                    <a:solidFill>
                      <a:srgbClr val="202428"/>
                    </a:solidFill>
                    <a:latin typeface="Calibri"/>
                    <a:ea typeface="Calibri"/>
                    <a:cs typeface="Calibri"/>
                  </a:defRPr>
                </a:pPr>
                <a:r>
                  <a:rPr lang="en-US" sz="2025" dirty="0">
                    <a:solidFill>
                      <a:srgbClr val="202428"/>
                    </a:solidFill>
                    <a:latin typeface="Calibri"/>
                    <a:ea typeface="Calibri"/>
                    <a:cs typeface="Calibri"/>
                  </a:rPr>
                  <a:t>Median answer time of </a:t>
                </a:r>
                <a14:m>
                  <m:oMath xmlns:m="http://schemas.openxmlformats.org/officeDocument/2006/math">
                    <m:r>
                      <a:rPr lang="en-US" sz="2025" i="1" smtClean="0">
                        <a:solidFill>
                          <a:srgbClr val="202428"/>
                        </a:solidFill>
                        <a:latin typeface="Cambria Math" panose="02040503050406030204" pitchFamily="18" charset="0"/>
                        <a:ea typeface="Calibri"/>
                        <a:cs typeface="Calibri"/>
                      </a:rPr>
                      <m:t>~</m:t>
                    </m:r>
                  </m:oMath>
                </a14:m>
                <a:r>
                  <a:rPr lang="en-US" sz="2025" dirty="0">
                    <a:solidFill>
                      <a:srgbClr val="202428"/>
                    </a:solidFill>
                    <a:latin typeface="Calibri"/>
                    <a:ea typeface="Calibri"/>
                    <a:cs typeface="Calibri"/>
                  </a:rPr>
                  <a:t>10 seconds is at the edge of what a user would likely tolerate. Some answers took much longer. Need to reduce latency.</a:t>
                </a:r>
              </a:p>
            </p:txBody>
          </p:sp>
        </mc:Choice>
        <mc:Fallback xmlns="">
          <p:sp>
            <p:nvSpPr>
              <p:cNvPr id="11" name="Current full evaluation report and test set&#10;&#10;">
                <a:extLst>
                  <a:ext uri="{FF2B5EF4-FFF2-40B4-BE49-F238E27FC236}">
                    <a16:creationId xmlns:a16="http://schemas.microsoft.com/office/drawing/2014/main" id="{70ED31AD-0AB2-4211-8985-1A18F5B8494B}"/>
                  </a:ext>
                </a:extLst>
              </p:cNvPr>
              <p:cNvSpPr>
                <a:spLocks noGrp="1" noRot="1" noChangeAspect="1" noMove="1" noResize="1" noEditPoints="1" noAdjustHandles="1" noChangeArrowheads="1" noChangeShapeType="1" noTextEdit="1"/>
              </p:cNvSpPr>
              <p:nvPr/>
            </p:nvSpPr>
            <p:spPr>
              <a:xfrm>
                <a:off x="800099" y="2476500"/>
                <a:ext cx="4422349" cy="2809875"/>
              </a:xfrm>
              <a:prstGeom prst="rect">
                <a:avLst/>
              </a:prstGeom>
              <a:blipFill>
                <a:blip r:embed="rId3"/>
                <a:stretch>
                  <a:fillRect l="-3306" t="-2820" r="-4132"/>
                </a:stretch>
              </a:blipFill>
              <a:ln w="0">
                <a:noFill/>
                <a:prstDash val="solid"/>
              </a:ln>
            </p:spPr>
            <p:txBody>
              <a:bodyPr/>
              <a:lstStyle/>
              <a:p>
                <a:r>
                  <a:rPr lang="en-US">
                    <a:noFill/>
                  </a:rPr>
                  <a:t> </a:t>
                </a:r>
              </a:p>
            </p:txBody>
          </p:sp>
        </mc:Fallback>
      </mc:AlternateContent>
      <p:sp>
        <p:nvSpPr>
          <p:cNvPr id="12" name="Recommended comparison">
            <a:extLst>
              <a:ext uri="{FF2B5EF4-FFF2-40B4-BE49-F238E27FC236}">
                <a16:creationId xmlns:a16="http://schemas.microsoft.com/office/drawing/2014/main" id="{F3CD06F9-2FC9-4F81-845C-BD755E58E006}"/>
              </a:ext>
            </a:extLst>
          </p:cNvPr>
          <p:cNvSpPr>
            <a:spLocks noGrp="1"/>
          </p:cNvSpPr>
          <p:nvPr/>
        </p:nvSpPr>
        <p:spPr>
          <a:xfrm>
            <a:off x="5973353" y="1743075"/>
            <a:ext cx="4286250" cy="428625"/>
          </a:xfrm>
          <a:prstGeom prst="rect">
            <a:avLst/>
          </a:prstGeom>
          <a:noFill/>
          <a:ln w="0">
            <a:noFill/>
            <a:prstDash val="solid"/>
          </a:ln>
        </p:spPr>
        <p:txBody>
          <a:bodyPr lIns="0" tIns="0" rIns="0" bIns="0" anchor="t">
            <a:noAutofit/>
          </a:bodyPr>
          <a:lstStyle>
            <a:defPPr algn="l">
              <a:defRPr sz="2250" b="1">
                <a:solidFill>
                  <a:srgbClr val="365C6A"/>
                </a:solidFill>
                <a:latin typeface="Calibri"/>
                <a:ea typeface="Calibri"/>
                <a:cs typeface="Calibri"/>
              </a:defRPr>
            </a:defPPr>
          </a:lstStyle>
          <a:p>
            <a:pPr algn="l">
              <a:buNone/>
              <a:defRPr sz="2250" b="1">
                <a:solidFill>
                  <a:srgbClr val="365C6A"/>
                </a:solidFill>
                <a:latin typeface="Calibri"/>
                <a:ea typeface="Calibri"/>
                <a:cs typeface="Calibri"/>
              </a:defRPr>
            </a:pPr>
            <a:r>
              <a:rPr sz="2250" b="1" dirty="0">
                <a:solidFill>
                  <a:srgbClr val="365C6A"/>
                </a:solidFill>
                <a:latin typeface="Calibri"/>
                <a:ea typeface="Calibri"/>
                <a:cs typeface="Calibri"/>
              </a:rPr>
              <a:t>Limits of this benchmark</a:t>
            </a:r>
          </a:p>
        </p:txBody>
      </p:sp>
      <p:sp>
        <p:nvSpPr>
          <p:cNvPr id="13" name="Same corpus and questions&#10;&#10;Default nano / min">
            <a:extLst>
              <a:ext uri="{FF2B5EF4-FFF2-40B4-BE49-F238E27FC236}">
                <a16:creationId xmlns:a16="http://schemas.microsoft.com/office/drawing/2014/main" id="{EBC87C58-C762-467F-8677-FE87FEF34F86}"/>
              </a:ext>
            </a:extLst>
          </p:cNvPr>
          <p:cNvSpPr>
            <a:spLocks noGrp="1"/>
          </p:cNvSpPr>
          <p:nvPr/>
        </p:nvSpPr>
        <p:spPr>
          <a:xfrm>
            <a:off x="5957740" y="2476500"/>
            <a:ext cx="5519885" cy="2857500"/>
          </a:xfrm>
          <a:prstGeom prst="rect">
            <a:avLst/>
          </a:prstGeom>
          <a:noFill/>
          <a:ln w="0">
            <a:noFill/>
            <a:prstDash val="solid"/>
          </a:ln>
        </p:spPr>
        <p:txBody>
          <a:bodyPr lIns="0" tIns="0" rIns="0" bIns="0" anchor="t">
            <a:noAutofit/>
          </a:bodyPr>
          <a:lstStyle>
            <a:defPPr algn="l">
              <a:defRPr sz="2025" b="0">
                <a:solidFill>
                  <a:srgbClr val="202428"/>
                </a:solidFill>
                <a:latin typeface="Calibri"/>
                <a:ea typeface="Calibri"/>
                <a:cs typeface="Calibri"/>
              </a:defRPr>
            </a:defPPr>
          </a:lstStyle>
          <a:p>
            <a:pPr marL="342900" indent="-342900" algn="l">
              <a:spcBef>
                <a:spcPts val="1200"/>
              </a:spcBef>
              <a:buFont typeface="Arial" panose="020B0604020202020204" pitchFamily="34" charset="0"/>
              <a:buChar char="•"/>
              <a:defRPr sz="2025" b="0">
                <a:solidFill>
                  <a:srgbClr val="202428"/>
                </a:solidFill>
                <a:latin typeface="Calibri"/>
                <a:ea typeface="Calibri"/>
                <a:cs typeface="Calibri"/>
              </a:defRPr>
            </a:pPr>
            <a:r>
              <a:rPr lang="en-US" sz="2025" dirty="0">
                <a:solidFill>
                  <a:srgbClr val="202428"/>
                </a:solidFill>
                <a:latin typeface="Calibri"/>
                <a:ea typeface="Calibri"/>
                <a:cs typeface="Calibri"/>
              </a:rPr>
              <a:t>Only</a:t>
            </a:r>
            <a:r>
              <a:rPr sz="2025" b="0" dirty="0">
                <a:solidFill>
                  <a:srgbClr val="202428"/>
                </a:solidFill>
                <a:latin typeface="Calibri"/>
                <a:ea typeface="Calibri"/>
                <a:cs typeface="Calibri"/>
              </a:rPr>
              <a:t> 50 questions informed development</a:t>
            </a:r>
            <a:r>
              <a:rPr lang="en-US" sz="2025" b="0" dirty="0">
                <a:solidFill>
                  <a:srgbClr val="202428"/>
                </a:solidFill>
                <a:latin typeface="Calibri"/>
                <a:ea typeface="Calibri"/>
                <a:cs typeface="Calibri"/>
              </a:rPr>
              <a:t>. </a:t>
            </a:r>
            <a:endParaRPr sz="2025" b="0" dirty="0">
              <a:solidFill>
                <a:srgbClr val="202428"/>
              </a:solidFill>
              <a:latin typeface="Calibri"/>
              <a:ea typeface="Calibri"/>
              <a:cs typeface="Calibri"/>
            </a:endParaRPr>
          </a:p>
          <a:p>
            <a:pPr marL="342900" indent="-342900" algn="l">
              <a:spcBef>
                <a:spcPts val="1200"/>
              </a:spcBef>
              <a:buFont typeface="Arial" panose="020B0604020202020204" pitchFamily="34" charset="0"/>
              <a:buChar char="•"/>
              <a:defRPr sz="2025" b="0">
                <a:solidFill>
                  <a:srgbClr val="202428"/>
                </a:solidFill>
                <a:latin typeface="Calibri"/>
                <a:ea typeface="Calibri"/>
                <a:cs typeface="Calibri"/>
              </a:defRPr>
            </a:pPr>
            <a:r>
              <a:rPr lang="en-US" sz="2025" dirty="0">
                <a:solidFill>
                  <a:srgbClr val="202428"/>
                </a:solidFill>
                <a:latin typeface="Calibri"/>
                <a:ea typeface="Calibri"/>
                <a:cs typeface="Calibri"/>
              </a:rPr>
              <a:t>Improving accuracy for limited, static number of questions was like “teaching to the test.” Pointless to optimize further without a larger question set.</a:t>
            </a:r>
          </a:p>
          <a:p>
            <a:pPr marL="342900" indent="-342900" algn="l">
              <a:spcBef>
                <a:spcPts val="1200"/>
              </a:spcBef>
              <a:buFont typeface="Arial" panose="020B0604020202020204" pitchFamily="34" charset="0"/>
              <a:buChar char="•"/>
              <a:defRPr sz="2025" b="0">
                <a:solidFill>
                  <a:srgbClr val="202428"/>
                </a:solidFill>
                <a:latin typeface="Calibri"/>
                <a:ea typeface="Calibri"/>
                <a:cs typeface="Calibri"/>
              </a:defRPr>
            </a:pPr>
            <a:r>
              <a:rPr lang="en-US" sz="2025" b="0" dirty="0">
                <a:solidFill>
                  <a:srgbClr val="202428"/>
                </a:solidFill>
                <a:latin typeface="Calibri"/>
                <a:ea typeface="Calibri"/>
                <a:cs typeface="Calibri"/>
              </a:rPr>
              <a:t>Cost of testing was high and this limited extent of testing.</a:t>
            </a:r>
          </a:p>
          <a:p>
            <a:pPr marL="342900" indent="-342900" algn="l">
              <a:spcBef>
                <a:spcPts val="1200"/>
              </a:spcBef>
              <a:buFont typeface="Arial" panose="020B0604020202020204" pitchFamily="34" charset="0"/>
              <a:buChar char="•"/>
              <a:defRPr sz="2025" b="0">
                <a:solidFill>
                  <a:srgbClr val="202428"/>
                </a:solidFill>
                <a:latin typeface="Calibri"/>
                <a:ea typeface="Calibri"/>
                <a:cs typeface="Calibri"/>
              </a:defRPr>
            </a:pPr>
            <a:r>
              <a:rPr lang="en-US" sz="2025" dirty="0">
                <a:solidFill>
                  <a:srgbClr val="202428"/>
                </a:solidFill>
                <a:latin typeface="Calibri"/>
                <a:ea typeface="Calibri"/>
                <a:cs typeface="Calibri"/>
              </a:rPr>
              <a:t>Judge model should probably be higher than ChatGPT 5.4-mini</a:t>
            </a:r>
            <a:endParaRPr sz="2025" b="0" dirty="0">
              <a:solidFill>
                <a:srgbClr val="202428"/>
              </a:solidFill>
              <a:latin typeface="Calibri"/>
              <a:ea typeface="Calibri"/>
              <a:cs typeface="Calibri"/>
            </a:endParaRPr>
          </a:p>
        </p:txBody>
      </p:sp>
    </p:spTree>
    <p:extLst>
      <p:ext uri="{BB962C8B-B14F-4D97-AF65-F5344CB8AC3E}">
        <p14:creationId xmlns:p14="http://schemas.microsoft.com/office/powerpoint/2010/main" val="1725571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0254CD-0903-966C-40EF-C5EBA490158C}"/>
              </a:ext>
            </a:extLst>
          </p:cNvPr>
          <p:cNvSpPr txBox="1"/>
          <p:nvPr/>
        </p:nvSpPr>
        <p:spPr>
          <a:xfrm>
            <a:off x="707571" y="1497600"/>
            <a:ext cx="9143999" cy="2000548"/>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endParaRPr lang="en-IN" dirty="0"/>
          </a:p>
          <a:p>
            <a:pPr algn="l"/>
            <a:r>
              <a:rPr lang="en-US" sz="2000" b="0" dirty="0">
                <a:solidFill>
                  <a:schemeClr val="tx1"/>
                </a:solidFill>
              </a:rPr>
              <a:t>Thank you!</a:t>
            </a:r>
          </a:p>
          <a:p>
            <a:pPr marL="285750" indent="-285750" algn="l">
              <a:buFont typeface="Arial" panose="020B0604020202020204" pitchFamily="34" charset="0"/>
              <a:buChar char="•"/>
            </a:pPr>
            <a:endParaRPr lang="en-US" sz="2000" b="0" dirty="0">
              <a:solidFill>
                <a:schemeClr val="tx1"/>
              </a:solidFill>
            </a:endParaRPr>
          </a:p>
          <a:p>
            <a:pPr algn="l"/>
            <a:br>
              <a:rPr lang="en-IN" dirty="0"/>
            </a:br>
            <a:endParaRPr lang="en-IN" dirty="0"/>
          </a:p>
        </p:txBody>
      </p:sp>
      <p:sp>
        <p:nvSpPr>
          <p:cNvPr id="5" name="TextBox 4">
            <a:extLst>
              <a:ext uri="{FF2B5EF4-FFF2-40B4-BE49-F238E27FC236}">
                <a16:creationId xmlns:a16="http://schemas.microsoft.com/office/drawing/2014/main" id="{7FE4D497-87C5-39D6-FAF0-4FE272E0EB7E}"/>
              </a:ext>
            </a:extLst>
          </p:cNvPr>
          <p:cNvSpPr txBox="1"/>
          <p:nvPr/>
        </p:nvSpPr>
        <p:spPr>
          <a:xfrm>
            <a:off x="3048000" y="60811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Questions</a:t>
            </a:r>
          </a:p>
        </p:txBody>
      </p:sp>
    </p:spTree>
    <p:extLst>
      <p:ext uri="{BB962C8B-B14F-4D97-AF65-F5344CB8AC3E}">
        <p14:creationId xmlns:p14="http://schemas.microsoft.com/office/powerpoint/2010/main" val="2385662214"/>
      </p:ext>
    </p:extLst>
  </p:cSld>
  <p:clrMapOvr>
    <a:masterClrMapping/>
  </p:clrMapOvr>
</p:sld>
</file>

<file path=ppt/theme/theme1.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Wa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Wa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1788</TotalTime>
  <Words>2132</Words>
  <Application>Microsoft Office PowerPoint</Application>
  <DocSecurity>0</DocSecurity>
  <PresentationFormat>Widescreen</PresentationFormat>
  <Paragraphs>186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 Math</vt:lpstr>
      <vt:lpstr>Times New Roman</vt:lpstr>
      <vt:lpstr>1_MIT 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Duncan Earl</cp:lastModifiedBy>
  <cp:revision>16</cp:revision>
  <dcterms:created xsi:type="dcterms:W3CDTF">2026-10-14T20:29:57Z</dcterms:created>
  <dcterms:modified xsi:type="dcterms:W3CDTF">2026-10-16T21:22:17Z</dcterms:modified>
</cp:coreProperties>
</file>